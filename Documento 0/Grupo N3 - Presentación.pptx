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embeddedFontLst>
    <p:embeddedFont>
      <p:font typeface="Quattrocento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E8PpKAjYdYA5pRtuvrIt7FBMS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QuattrocentoSans-bold.fntdata"/><Relationship Id="rId30" Type="http://schemas.openxmlformats.org/officeDocument/2006/relationships/font" Target="fonts/QuattrocentoSans-regular.fntdata"/><Relationship Id="rId11" Type="http://schemas.openxmlformats.org/officeDocument/2006/relationships/slide" Target="slides/slide5.xml"/><Relationship Id="rId33" Type="http://schemas.openxmlformats.org/officeDocument/2006/relationships/font" Target="fonts/QuattrocentoSans-boldItalic.fntdata"/><Relationship Id="rId10" Type="http://schemas.openxmlformats.org/officeDocument/2006/relationships/slide" Target="slides/slide4.xml"/><Relationship Id="rId32" Type="http://schemas.openxmlformats.org/officeDocument/2006/relationships/font" Target="fonts/Quattrocento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CL" sz="12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" name="Google Shape;17;p29"/>
          <p:cNvSpPr txBox="1"/>
          <p:nvPr>
            <p:ph type="ctrTitle"/>
          </p:nvPr>
        </p:nvSpPr>
        <p:spPr>
          <a:xfrm>
            <a:off x="838200" y="2061006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" type="subTitle"/>
          </p:nvPr>
        </p:nvSpPr>
        <p:spPr>
          <a:xfrm>
            <a:off x="838202" y="5110609"/>
            <a:ext cx="6705599" cy="1137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  <a:defRPr sz="2800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9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2" name="Google Shape;22;p29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(g3d86ed10797_11_0)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" name="Google Shape;31;p36"/>
          <p:cNvSpPr txBox="1"/>
          <p:nvPr>
            <p:ph type="title"/>
          </p:nvPr>
        </p:nvSpPr>
        <p:spPr>
          <a:xfrm>
            <a:off x="604434" y="0"/>
            <a:ext cx="10749367" cy="1208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1" type="body"/>
          </p:nvPr>
        </p:nvSpPr>
        <p:spPr>
          <a:xfrm>
            <a:off x="838201" y="1825625"/>
            <a:ext cx="416775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6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36" name="Google Shape;36;p3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9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" name="Google Shape;39;p49"/>
          <p:cNvSpPr txBox="1"/>
          <p:nvPr>
            <p:ph type="title"/>
          </p:nvPr>
        </p:nvSpPr>
        <p:spPr>
          <a:xfrm>
            <a:off x="838201" y="2402238"/>
            <a:ext cx="4508715" cy="2187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4726"/>
              </a:buClr>
              <a:buSzPts val="4800"/>
              <a:buFont typeface="Quattrocento Sans"/>
              <a:buNone/>
              <a:defRPr sz="4800">
                <a:solidFill>
                  <a:srgbClr val="D247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9"/>
          <p:cNvSpPr txBox="1"/>
          <p:nvPr>
            <p:ph idx="1" type="body"/>
          </p:nvPr>
        </p:nvSpPr>
        <p:spPr>
          <a:xfrm>
            <a:off x="6323308" y="2402237"/>
            <a:ext cx="5269424" cy="2187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49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9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44" name="Google Shape;44;p49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" name="Google Shape;47;p50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50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53" name="Google Shape;53;p50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" name="Google Shape;56;p51"/>
          <p:cNvSpPr txBox="1"/>
          <p:nvPr>
            <p:ph type="title"/>
          </p:nvPr>
        </p:nvSpPr>
        <p:spPr>
          <a:xfrm>
            <a:off x="609600" y="0"/>
            <a:ext cx="10737851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" type="body"/>
          </p:nvPr>
        </p:nvSpPr>
        <p:spPr>
          <a:xfrm>
            <a:off x="831851" y="1489075"/>
            <a:ext cx="51562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51"/>
          <p:cNvSpPr txBox="1"/>
          <p:nvPr>
            <p:ph idx="2" type="body"/>
          </p:nvPr>
        </p:nvSpPr>
        <p:spPr>
          <a:xfrm>
            <a:off x="831851" y="2193927"/>
            <a:ext cx="515620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51"/>
          <p:cNvSpPr txBox="1"/>
          <p:nvPr>
            <p:ph idx="3" type="body"/>
          </p:nvPr>
        </p:nvSpPr>
        <p:spPr>
          <a:xfrm>
            <a:off x="6189664" y="1489075"/>
            <a:ext cx="5157787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51"/>
          <p:cNvSpPr txBox="1"/>
          <p:nvPr>
            <p:ph idx="4" type="body"/>
          </p:nvPr>
        </p:nvSpPr>
        <p:spPr>
          <a:xfrm>
            <a:off x="6189664" y="2193927"/>
            <a:ext cx="5157787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51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1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64" name="Google Shape;64;p51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2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" name="Google Shape;67;p52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2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2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71" name="Google Shape;71;p52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3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4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54"/>
          <p:cNvSpPr txBox="1"/>
          <p:nvPr>
            <p:ph idx="2" type="body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54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4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4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5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55"/>
          <p:cNvSpPr txBox="1"/>
          <p:nvPr>
            <p:ph idx="1" type="body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55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5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5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" name="Google Shape;92;p56"/>
          <p:cNvSpPr txBox="1"/>
          <p:nvPr>
            <p:ph type="title"/>
          </p:nvPr>
        </p:nvSpPr>
        <p:spPr>
          <a:xfrm>
            <a:off x="609600" y="1"/>
            <a:ext cx="10744200" cy="1228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56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6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6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97" name="Google Shape;97;p5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7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" name="Google Shape;100;p57"/>
          <p:cNvSpPr txBox="1"/>
          <p:nvPr>
            <p:ph type="title"/>
          </p:nvPr>
        </p:nvSpPr>
        <p:spPr>
          <a:xfrm rot="5400000">
            <a:off x="8219282" y="2361262"/>
            <a:ext cx="5811838" cy="18195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7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57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7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7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105" name="Google Shape;105;p57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">
  <p:cSld name="Título y objetos (g397ba4aaade_9_0)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7ba4aaade_1_409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97ba4aaade_1_409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g397ba4aaade_1_409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97ba4aaade_1_409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97ba4aaade_1_409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 1 1 1 1 1 1 1 1 1 1">
  <p:cSld name="Título y objetos (g3d86ed10797_18_0)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7ba4aaade_24_319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97ba4aaade_24_319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g397ba4aaade_24_319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97ba4aaade_24_319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97ba4aaade_24_319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 1 1 1 1 1 1 1 1 1">
  <p:cSld name="Título y objetos (g3d86ed10797_32_0)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7ba4aaade_24_325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97ba4aaade_24_325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g397ba4aaade_24_325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97ba4aaade_24_325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97ba4aaade_24_325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 1 1 1 1 1 1 1 1">
  <p:cSld name="Título y objetos (g3d86ed10797_39_0)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ba4aaade_24_331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97ba4aaade_24_331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g397ba4aaade_24_331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97ba4aaade_24_331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97ba4aaade_24_331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 1 1 1 1 1 1 1">
  <p:cSld name="Título y objetos (g3d86ed10797_46_0)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ba4aaade_24_337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97ba4aaade_24_337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g397ba4aaade_24_337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97ba4aaade_24_337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97ba4aaade_24_337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86ed10797_72_0)">
  <p:cSld name="Generated (g3d86ed10797_72_0)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 1 1 1 1 1 1">
  <p:cSld name="Título y objetos (g3d86ed10797_79_0)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7ba4aaade_24_344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97ba4aaade_24_344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97ba4aaade_24_344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97ba4aaade_24_344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97ba4aaade_24_344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 1 1 1 1 1">
  <p:cSld name="Título y objetos (g3d86ed10797_93_0)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7ba4aaade_24_350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97ba4aaade_24_350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97ba4aaade_24_350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97ba4aaade_24_350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97ba4aaade_24_350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 1 1 1 1">
  <p:cSld name="Título y objetos (g3d86ed10797_117_0)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7ba4aaade_24_356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97ba4aaade_24_356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g397ba4aaade_24_356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97ba4aaade_24_356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97ba4aaade_24_356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 1 1 1">
  <p:cSld name="Título y objetos (g3d86ed10797_124_0)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7ba4aaade_24_362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97ba4aaade_24_362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g397ba4aaade_24_362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97ba4aaade_24_362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g397ba4aaade_24_362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 1 1">
  <p:cSld name="Título y objetos (g3d86ed10797_146_0)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7ba4aaade_24_368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97ba4aaade_24_368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g397ba4aaade_24_368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97ba4aaade_24_368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397ba4aaade_24_368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 1">
  <p:cSld name="Título y objetos (g3d86ed10797_153_0)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7ba4aaade_24_374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g397ba4aaade_24_374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g397ba4aaade_24_374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97ba4aaade_24_374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397ba4aaade_24_374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 1">
  <p:cSld name="Título y objetos (g3d86ed10797_160_0)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7ba4aaade_24_380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97ba4aaade_24_380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g397ba4aaade_24_380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97ba4aaade_24_380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397ba4aaade_24_380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 (g3d86ed10797_224_0)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7ba4aaade_24_386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97ba4aaade_24_386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g397ba4aaade_24_386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97ba4aaade_24_386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97ba4aaade_24_386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 1 1">
  <p:cSld name="Título y objetos (g3d86ed10797_167_0)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7ba4aaade_24_392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397ba4aaade_24_392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g397ba4aaade_24_392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g397ba4aaade_24_392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397ba4aaade_24_392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7ba4aaade_24_398"/>
          <p:cNvSpPr/>
          <p:nvPr/>
        </p:nvSpPr>
        <p:spPr>
          <a:xfrm>
            <a:off x="0" y="0"/>
            <a:ext cx="12192000" cy="48666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9" name="Google Shape;199;g397ba4aaade_24_398"/>
          <p:cNvSpPr txBox="1"/>
          <p:nvPr>
            <p:ph type="ctrTitle"/>
          </p:nvPr>
        </p:nvSpPr>
        <p:spPr>
          <a:xfrm>
            <a:off x="838200" y="2061006"/>
            <a:ext cx="105156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g397ba4aaade_24_398"/>
          <p:cNvSpPr txBox="1"/>
          <p:nvPr>
            <p:ph idx="1" type="subTitle"/>
          </p:nvPr>
        </p:nvSpPr>
        <p:spPr>
          <a:xfrm>
            <a:off x="838202" y="5110609"/>
            <a:ext cx="67056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D24726"/>
              </a:buClr>
              <a:buSzPts val="2800"/>
              <a:buNone/>
              <a:defRPr sz="2800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1" name="Google Shape;201;g397ba4aaade_24_398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397ba4aaade_24_398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97ba4aaade_24_398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04" name="Google Shape;204;g397ba4aaade_24_398"/>
          <p:cNvSpPr/>
          <p:nvPr/>
        </p:nvSpPr>
        <p:spPr>
          <a:xfrm>
            <a:off x="0" y="0"/>
            <a:ext cx="12192000" cy="48666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7ba4aaade_24_406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7" name="Google Shape;207;g397ba4aaade_24_406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97ba4aaade_24_406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g397ba4aaade_24_406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397ba4aaade_24_406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397ba4aaade_24_406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12" name="Google Shape;212;g397ba4aaade_24_406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7ba4aaade_24_414"/>
          <p:cNvSpPr/>
          <p:nvPr/>
        </p:nvSpPr>
        <p:spPr>
          <a:xfrm>
            <a:off x="5656882" y="1709738"/>
            <a:ext cx="6535200" cy="35751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5" name="Google Shape;215;g397ba4aaade_24_414"/>
          <p:cNvSpPr txBox="1"/>
          <p:nvPr>
            <p:ph type="title"/>
          </p:nvPr>
        </p:nvSpPr>
        <p:spPr>
          <a:xfrm>
            <a:off x="838201" y="2402238"/>
            <a:ext cx="4508700" cy="21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4726"/>
              </a:buClr>
              <a:buSzPts val="4800"/>
              <a:buFont typeface="Quattrocento Sans"/>
              <a:buNone/>
              <a:defRPr sz="4800">
                <a:solidFill>
                  <a:srgbClr val="D247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g397ba4aaade_24_414"/>
          <p:cNvSpPr txBox="1"/>
          <p:nvPr>
            <p:ph idx="1" type="body"/>
          </p:nvPr>
        </p:nvSpPr>
        <p:spPr>
          <a:xfrm>
            <a:off x="6323308" y="2402237"/>
            <a:ext cx="5269500" cy="21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7" name="Google Shape;217;g397ba4aaade_24_414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97ba4aaade_24_414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97ba4aaade_24_414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20" name="Google Shape;220;g397ba4aaade_24_414"/>
          <p:cNvSpPr/>
          <p:nvPr/>
        </p:nvSpPr>
        <p:spPr>
          <a:xfrm>
            <a:off x="5656882" y="1709738"/>
            <a:ext cx="6535200" cy="35751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7ba4aaade_24_422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3" name="Google Shape;223;g397ba4aaade_24_422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g397ba4aaade_24_422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g397ba4aaade_24_422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g397ba4aaade_24_422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g397ba4aaade_24_422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g397ba4aaade_24_422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29" name="Google Shape;229;g397ba4aaade_24_422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7ba4aaade_24_431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2" name="Google Shape;232;g397ba4aaade_24_431"/>
          <p:cNvSpPr txBox="1"/>
          <p:nvPr>
            <p:ph type="title"/>
          </p:nvPr>
        </p:nvSpPr>
        <p:spPr>
          <a:xfrm>
            <a:off x="609600" y="0"/>
            <a:ext cx="107379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g397ba4aaade_24_431"/>
          <p:cNvSpPr txBox="1"/>
          <p:nvPr>
            <p:ph idx="1" type="body"/>
          </p:nvPr>
        </p:nvSpPr>
        <p:spPr>
          <a:xfrm>
            <a:off x="831851" y="1489075"/>
            <a:ext cx="5156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34" name="Google Shape;234;g397ba4aaade_24_431"/>
          <p:cNvSpPr txBox="1"/>
          <p:nvPr>
            <p:ph idx="2" type="body"/>
          </p:nvPr>
        </p:nvSpPr>
        <p:spPr>
          <a:xfrm>
            <a:off x="831851" y="2193927"/>
            <a:ext cx="5156100" cy="3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g397ba4aaade_24_431"/>
          <p:cNvSpPr txBox="1"/>
          <p:nvPr>
            <p:ph idx="3" type="body"/>
          </p:nvPr>
        </p:nvSpPr>
        <p:spPr>
          <a:xfrm>
            <a:off x="6189664" y="1489075"/>
            <a:ext cx="5157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36" name="Google Shape;236;g397ba4aaade_24_431"/>
          <p:cNvSpPr txBox="1"/>
          <p:nvPr>
            <p:ph idx="4" type="body"/>
          </p:nvPr>
        </p:nvSpPr>
        <p:spPr>
          <a:xfrm>
            <a:off x="6189664" y="2193927"/>
            <a:ext cx="5157900" cy="3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g397ba4aaade_24_431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g397ba4aaade_24_431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397ba4aaade_24_431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40" name="Google Shape;240;g397ba4aaade_24_431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7ba4aaade_24_442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3" name="Google Shape;243;g397ba4aaade_24_442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g397ba4aaade_24_442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g397ba4aaade_24_442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g397ba4aaade_24_442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47" name="Google Shape;247;g397ba4aaade_24_442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7ba4aaade_24_449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g397ba4aaade_24_449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g397ba4aaade_24_449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7ba4aaade_24_45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397ba4aaade_24_453"/>
          <p:cNvSpPr txBox="1"/>
          <p:nvPr>
            <p:ph idx="1" type="body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33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g397ba4aaade_24_453"/>
          <p:cNvSpPr txBox="1"/>
          <p:nvPr>
            <p:ph idx="2" type="body"/>
          </p:nvPr>
        </p:nvSpPr>
        <p:spPr>
          <a:xfrm>
            <a:off x="839788" y="2101850"/>
            <a:ext cx="39321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56" name="Google Shape;256;g397ba4aaade_24_453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g397ba4aaade_24_453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g397ba4aaade_24_453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7ba4aaade_24_4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g397ba4aaade_24_460"/>
          <p:cNvSpPr/>
          <p:nvPr>
            <p:ph idx="2" type="pic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g397ba4aaade_24_460"/>
          <p:cNvSpPr txBox="1"/>
          <p:nvPr>
            <p:ph idx="1" type="body"/>
          </p:nvPr>
        </p:nvSpPr>
        <p:spPr>
          <a:xfrm>
            <a:off x="839788" y="2101850"/>
            <a:ext cx="39321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63" name="Google Shape;263;g397ba4aaade_24_460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g397ba4aaade_24_460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g397ba4aaade_24_460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7ba4aaade_24_467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8" name="Google Shape;268;g397ba4aaade_24_467"/>
          <p:cNvSpPr txBox="1"/>
          <p:nvPr>
            <p:ph type="title"/>
          </p:nvPr>
        </p:nvSpPr>
        <p:spPr>
          <a:xfrm>
            <a:off x="609600" y="1"/>
            <a:ext cx="10744200" cy="12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g397ba4aaade_24_467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0" name="Google Shape;270;g397ba4aaade_24_467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g397ba4aaade_24_467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g397ba4aaade_24_467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73" name="Google Shape;273;g397ba4aaade_24_467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7ba4aaade_24_475"/>
          <p:cNvSpPr/>
          <p:nvPr/>
        </p:nvSpPr>
        <p:spPr>
          <a:xfrm>
            <a:off x="10095346" y="0"/>
            <a:ext cx="2096700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6" name="Google Shape;276;g397ba4aaade_24_475"/>
          <p:cNvSpPr txBox="1"/>
          <p:nvPr>
            <p:ph type="title"/>
          </p:nvPr>
        </p:nvSpPr>
        <p:spPr>
          <a:xfrm rot="5400000">
            <a:off x="8219283" y="2361325"/>
            <a:ext cx="58119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g397ba4aaade_24_475"/>
          <p:cNvSpPr txBox="1"/>
          <p:nvPr>
            <p:ph idx="1" type="body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" name="Google Shape;278;g397ba4aaade_24_475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g397ba4aaade_24_475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g397ba4aaade_24_475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81" name="Google Shape;281;g397ba4aaade_24_475"/>
          <p:cNvSpPr/>
          <p:nvPr/>
        </p:nvSpPr>
        <p:spPr>
          <a:xfrm>
            <a:off x="10095346" y="0"/>
            <a:ext cx="2096700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(g3d86ed10797_11_0)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7ba4aaade_24_483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g397ba4aaade_24_483"/>
          <p:cNvSpPr txBox="1"/>
          <p:nvPr>
            <p:ph idx="1" type="body"/>
          </p:nvPr>
        </p:nvSpPr>
        <p:spPr>
          <a:xfrm>
            <a:off x="838201" y="1825625"/>
            <a:ext cx="416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9845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4pPr>
            <a:lvl5pPr indent="-29845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g397ba4aaade_24_483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g397ba4aaade_24_483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g397ba4aaade_24_483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9.xml"/><Relationship Id="rId25" Type="http://schemas.openxmlformats.org/officeDocument/2006/relationships/slideLayout" Target="../slideLayouts/slideLayout38.xml"/><Relationship Id="rId27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7ba4aaade_24_313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g397ba4aaade_24_3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5" name="Google Shape;115;g397ba4aaade_24_313"/>
          <p:cNvSpPr txBox="1"/>
          <p:nvPr>
            <p:ph idx="10" type="dt"/>
          </p:nvPr>
        </p:nvSpPr>
        <p:spPr>
          <a:xfrm>
            <a:off x="838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6" name="Google Shape;116;g397ba4aaade_24_313"/>
          <p:cNvSpPr txBox="1"/>
          <p:nvPr>
            <p:ph idx="11" type="ftr"/>
          </p:nvPr>
        </p:nvSpPr>
        <p:spPr>
          <a:xfrm>
            <a:off x="4648200" y="6356352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17" name="Google Shape;117;g397ba4aaade_24_313"/>
          <p:cNvSpPr txBox="1"/>
          <p:nvPr>
            <p:ph idx="12" type="sldNum"/>
          </p:nvPr>
        </p:nvSpPr>
        <p:spPr>
          <a:xfrm>
            <a:off x="8077200" y="6356352"/>
            <a:ext cx="32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"/>
          <p:cNvSpPr txBox="1"/>
          <p:nvPr>
            <p:ph type="ctrTitle"/>
          </p:nvPr>
        </p:nvSpPr>
        <p:spPr>
          <a:xfrm>
            <a:off x="500225" y="322400"/>
            <a:ext cx="9087300" cy="134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CL" sz="3800"/>
              <a:t>SISTEMA DE GESTIÓN DE INSTALACIONES Y MONITOREO TÉCNICO</a:t>
            </a:r>
            <a:endParaRPr sz="3800"/>
          </a:p>
        </p:txBody>
      </p:sp>
      <p:sp>
        <p:nvSpPr>
          <p:cNvPr id="294" name="Google Shape;294;p1"/>
          <p:cNvSpPr txBox="1"/>
          <p:nvPr>
            <p:ph idx="1" type="subTitle"/>
          </p:nvPr>
        </p:nvSpPr>
        <p:spPr>
          <a:xfrm>
            <a:off x="659950" y="1667300"/>
            <a:ext cx="42057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lang="en-CL">
                <a:solidFill>
                  <a:schemeClr val="lt1"/>
                </a:solidFill>
              </a:rPr>
              <a:t>Autores: </a:t>
            </a:r>
            <a:endParaRPr>
              <a:solidFill>
                <a:schemeClr val="lt1"/>
              </a:solidFill>
            </a:endParaRPr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CL">
                <a:solidFill>
                  <a:schemeClr val="lt1"/>
                </a:solidFill>
              </a:rPr>
              <a:t>Fernando Chávez </a:t>
            </a:r>
            <a:endParaRPr>
              <a:solidFill>
                <a:schemeClr val="lt1"/>
              </a:solidFill>
            </a:endParaRPr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CL">
                <a:solidFill>
                  <a:schemeClr val="lt1"/>
                </a:solidFill>
              </a:rPr>
              <a:t>Eduardo Zepeda </a:t>
            </a:r>
            <a:endParaRPr>
              <a:solidFill>
                <a:schemeClr val="lt1"/>
              </a:solidFill>
            </a:endParaRPr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CL">
                <a:solidFill>
                  <a:schemeClr val="lt1"/>
                </a:solidFill>
              </a:rPr>
              <a:t>Vicente Díaz </a:t>
            </a:r>
            <a:endParaRPr>
              <a:solidFill>
                <a:schemeClr val="lt1"/>
              </a:solidFill>
            </a:endParaRPr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CL">
                <a:solidFill>
                  <a:schemeClr val="lt1"/>
                </a:solidFill>
              </a:rPr>
              <a:t>Iosef Cornejo </a:t>
            </a:r>
            <a:endParaRPr>
              <a:solidFill>
                <a:schemeClr val="lt1"/>
              </a:solidFill>
            </a:endParaRPr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CL">
                <a:solidFill>
                  <a:schemeClr val="lt1"/>
                </a:solidFill>
              </a:rPr>
              <a:t>Fernando Rojas</a:t>
            </a:r>
            <a:endParaRPr>
              <a:solidFill>
                <a:schemeClr val="lt1"/>
              </a:solidFill>
            </a:endParaRPr>
          </a:p>
          <a:p>
            <a:pPr indent="-36639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CL">
                <a:solidFill>
                  <a:schemeClr val="lt1"/>
                </a:solidFill>
              </a:rPr>
              <a:t>Matias Galvez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95" name="Google Shape;2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2300" y="358463"/>
            <a:ext cx="2862134" cy="266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"/>
          <p:cNvSpPr txBox="1"/>
          <p:nvPr/>
        </p:nvSpPr>
        <p:spPr>
          <a:xfrm>
            <a:off x="4449175" y="3429000"/>
            <a:ext cx="4506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CL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Profesor:</a:t>
            </a:r>
            <a:endParaRPr b="0" i="0" sz="2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CL" sz="21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Paulo Luis Francisco Quinsacara Jorfé</a:t>
            </a:r>
            <a:endParaRPr b="0" i="0" sz="21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0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0"/>
          <p:cNvSpPr txBox="1"/>
          <p:nvPr/>
        </p:nvSpPr>
        <p:spPr>
          <a:xfrm>
            <a:off x="723900" y="0"/>
            <a:ext cx="107442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CL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Índice</a:t>
            </a:r>
            <a:endParaRPr/>
          </a:p>
        </p:txBody>
      </p:sp>
      <p:sp>
        <p:nvSpPr>
          <p:cNvPr id="303" name="Google Shape;303;p70"/>
          <p:cNvSpPr txBox="1"/>
          <p:nvPr/>
        </p:nvSpPr>
        <p:spPr>
          <a:xfrm>
            <a:off x="457200" y="1473000"/>
            <a:ext cx="5500000" cy="510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01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02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Misión, Visión y Ubicación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03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Organigrama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04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Análisis PESTEL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05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5 Fuerzas de Porter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06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Cadena de Valor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07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Análisis FODA</a:t>
            </a:r>
            <a:endParaRPr/>
          </a:p>
        </p:txBody>
      </p:sp>
      <p:sp>
        <p:nvSpPr>
          <p:cNvPr id="304" name="Google Shape;304;p70"/>
          <p:cNvSpPr txBox="1"/>
          <p:nvPr/>
        </p:nvSpPr>
        <p:spPr>
          <a:xfrm>
            <a:off x="6300000" y="1473000"/>
            <a:ext cx="5500000" cy="510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08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Herramientas Cuantitativas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09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Ishikawa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10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Levantamiento de Procesos (BPMN)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11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Requerimientos Funcionales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12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Casos de Uso y Diagramas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13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14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Estimación de Costo y Beneficio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15  </a:t>
            </a:r>
            <a:r>
              <a:rPr b="0" i="0" lang="en-CL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Dimensión Técnica</a:t>
            </a:r>
            <a:endParaRPr/>
          </a:p>
        </p:txBody>
      </p:sp>
      <p:sp>
        <p:nvSpPr>
          <p:cNvPr id="305" name="Google Shape;305;p70"/>
          <p:cNvSpPr/>
          <p:nvPr/>
        </p:nvSpPr>
        <p:spPr>
          <a:xfrm>
            <a:off x="6095000" y="1600000"/>
            <a:ext cx="19050" cy="4700000"/>
          </a:xfrm>
          <a:prstGeom prst="rect">
            <a:avLst/>
          </a:prstGeom>
          <a:solidFill>
            <a:srgbClr val="D24726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"/>
          <p:cNvSpPr txBox="1"/>
          <p:nvPr>
            <p:ph type="title"/>
          </p:nvPr>
        </p:nvSpPr>
        <p:spPr>
          <a:xfrm>
            <a:off x="723900" y="0"/>
            <a:ext cx="107442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CL" sz="4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Introducción</a:t>
            </a:r>
            <a:endParaRPr b="1" i="0" sz="40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12" name="Google Shape;312;p2"/>
          <p:cNvGrpSpPr/>
          <p:nvPr/>
        </p:nvGrpSpPr>
        <p:grpSpPr>
          <a:xfrm>
            <a:off x="571500" y="1524000"/>
            <a:ext cx="5334000" cy="4953000"/>
            <a:chOff x="571500" y="1524000"/>
            <a:chExt cx="5334000" cy="4953000"/>
          </a:xfrm>
        </p:grpSpPr>
        <p:sp>
          <p:nvSpPr>
            <p:cNvPr id="313" name="Google Shape;313;p2"/>
            <p:cNvSpPr/>
            <p:nvPr/>
          </p:nvSpPr>
          <p:spPr>
            <a:xfrm>
              <a:off x="571500" y="1524000"/>
              <a:ext cx="5334000" cy="4953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571500" y="1524000"/>
              <a:ext cx="5334000" cy="1333500"/>
            </a:xfrm>
            <a:prstGeom prst="roundRect">
              <a:avLst>
                <a:gd fmla="val 11428" name="adj"/>
              </a:avLst>
            </a:prstGeom>
            <a:solidFill>
              <a:srgbClr val="FFFB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5" name="Google Shape;3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2662238"/>
              <a:ext cx="5334000" cy="9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6" name="Google Shape;316;p2"/>
          <p:cNvPicPr preferRelativeResize="0"/>
          <p:nvPr/>
        </p:nvPicPr>
        <p:blipFill rotWithShape="1">
          <a:blip r:embed="rId5">
            <a:alphaModFix/>
          </a:blip>
          <a:srcRect b="15379" l="0" r="0" t="15379"/>
          <a:stretch/>
        </p:blipFill>
        <p:spPr>
          <a:xfrm>
            <a:off x="2190750" y="1714500"/>
            <a:ext cx="2095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"/>
          <p:cNvSpPr txBox="1"/>
          <p:nvPr/>
        </p:nvSpPr>
        <p:spPr>
          <a:xfrm>
            <a:off x="762000" y="2952750"/>
            <a:ext cx="4953000" cy="251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L" sz="18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FiNet </a:t>
            </a:r>
            <a:endParaRPr b="1" i="0" sz="1800" u="none" cap="none" strike="noStrike">
              <a:solidFill>
                <a:srgbClr val="D247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1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Fundación:</a:t>
            </a:r>
            <a:r>
              <a:rPr b="0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2017 (+8 años de operación)</a:t>
            </a:r>
            <a:endParaRPr b="0" i="0" sz="13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1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Oficina Principal:</a:t>
            </a:r>
            <a:r>
              <a:rPr b="0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Av. Santa Rosa 12.980, La Pintana, Santiago</a:t>
            </a:r>
            <a:endParaRPr b="0" i="0" sz="13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1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Cobertura:</a:t>
            </a:r>
            <a:r>
              <a:rPr b="0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La Pintana, La Granja, Puente Alto</a:t>
            </a:r>
            <a:endParaRPr b="0" i="0" sz="13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1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Clientes:</a:t>
            </a:r>
            <a:r>
              <a:rPr b="0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~1.200 activos (hogares y pymes)</a:t>
            </a:r>
            <a:endParaRPr b="0" i="0" sz="13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1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Servicios:</a:t>
            </a:r>
            <a:r>
              <a:rPr b="0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FTTH 200–900 Mbps y TV Digital HD</a:t>
            </a:r>
            <a:endParaRPr b="0" i="0" sz="13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1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Diferenciador:</a:t>
            </a:r>
            <a:r>
              <a:rPr b="0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Opera en "Zona Roja" (sin cobertura tradicional)</a:t>
            </a:r>
            <a:endParaRPr b="0" i="0" sz="13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2"/>
          <p:cNvGrpSpPr/>
          <p:nvPr/>
        </p:nvGrpSpPr>
        <p:grpSpPr>
          <a:xfrm>
            <a:off x="6286500" y="1524000"/>
            <a:ext cx="5334000" cy="4953000"/>
            <a:chOff x="6286500" y="1524000"/>
            <a:chExt cx="5334000" cy="4953000"/>
          </a:xfrm>
        </p:grpSpPr>
        <p:sp>
          <p:nvSpPr>
            <p:cNvPr id="319" name="Google Shape;319;p2"/>
            <p:cNvSpPr/>
            <p:nvPr/>
          </p:nvSpPr>
          <p:spPr>
            <a:xfrm>
              <a:off x="6286500" y="1524000"/>
              <a:ext cx="5334000" cy="4953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6286500" y="1524000"/>
              <a:ext cx="5334000" cy="1333500"/>
            </a:xfrm>
            <a:prstGeom prst="roundRect">
              <a:avLst>
                <a:gd fmla="val 11428" name="adj"/>
              </a:avLst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1" name="Google Shape;321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86500" y="2662238"/>
              <a:ext cx="2857500" cy="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2" name="Google Shape;322;p2"/>
          <p:cNvSpPr txBox="1"/>
          <p:nvPr/>
        </p:nvSpPr>
        <p:spPr>
          <a:xfrm>
            <a:off x="6477000" y="2952750"/>
            <a:ext cx="4953000" cy="192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L" sz="1800" u="none" cap="none" strike="noStrike">
                <a:solidFill>
                  <a:srgbClr val="D24726"/>
                </a:solidFill>
                <a:latin typeface="Arial"/>
                <a:ea typeface="Arial"/>
                <a:cs typeface="Arial"/>
                <a:sym typeface="Arial"/>
              </a:rPr>
              <a:t>Cable Mágico </a:t>
            </a:r>
            <a:endParaRPr b="1" i="0" sz="1800" u="none" cap="none" strike="noStrike">
              <a:solidFill>
                <a:srgbClr val="D247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1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ISP Litoral Central:</a:t>
            </a:r>
            <a:r>
              <a:rPr b="0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Algarrobo y El Quisco, Región de Valparaíso</a:t>
            </a:r>
            <a:endParaRPr b="0" i="0" sz="13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1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Estructura:</a:t>
            </a:r>
            <a:r>
              <a:rPr b="0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Mismo propietario que FiNet, pero operación independiente</a:t>
            </a:r>
            <a:endParaRPr b="0" i="0" sz="13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1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Sinergia:</a:t>
            </a:r>
            <a:r>
              <a:rPr b="0" i="0" lang="en-CL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Mismos procesos y visión; sistema FSM opera como espejo en una misma plataforma</a:t>
            </a:r>
            <a:endParaRPr b="0" i="0" sz="130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"/>
          <p:cNvSpPr txBox="1"/>
          <p:nvPr>
            <p:ph type="title"/>
          </p:nvPr>
        </p:nvSpPr>
        <p:spPr>
          <a:xfrm>
            <a:off x="723900" y="0"/>
            <a:ext cx="107493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CL" sz="4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Misión, Visión y Ubicación</a:t>
            </a:r>
            <a:endParaRPr b="1" sz="40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29" name="Google Shape;329;p3"/>
          <p:cNvGrpSpPr/>
          <p:nvPr/>
        </p:nvGrpSpPr>
        <p:grpSpPr>
          <a:xfrm>
            <a:off x="571500" y="1524000"/>
            <a:ext cx="5334000" cy="4953000"/>
            <a:chOff x="571500" y="1524000"/>
            <a:chExt cx="5334000" cy="4953000"/>
          </a:xfrm>
        </p:grpSpPr>
        <p:sp>
          <p:nvSpPr>
            <p:cNvPr id="330" name="Google Shape;330;p3"/>
            <p:cNvSpPr/>
            <p:nvPr/>
          </p:nvSpPr>
          <p:spPr>
            <a:xfrm>
              <a:off x="571500" y="1524000"/>
              <a:ext cx="5334000" cy="4953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"/>
            <p:cNvSpPr txBox="1"/>
            <p:nvPr/>
          </p:nvSpPr>
          <p:spPr>
            <a:xfrm>
              <a:off x="857250" y="1809750"/>
              <a:ext cx="4762500" cy="43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CL" sz="24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Misión</a:t>
              </a:r>
              <a:endParaRPr b="1" i="0" sz="24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CL" sz="13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Proporcionar servicios de telecomunicaciones de alta calidad mediante fibra óptica y televisión digital confiable, con atención cercana y personalizada, promoviendo la educación del usuario para resolver fallas simples antes de requerir soporte presencial.</a:t>
              </a:r>
              <a:endParaRPr b="0" i="0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5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CL" sz="24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Visión</a:t>
              </a:r>
              <a:endParaRPr b="1" i="0" sz="24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CL" sz="13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Consolidarse como empresa líder regional reconocida por excelencia, con procesos digitalizados, escalables e independientes de las personas.</a:t>
              </a:r>
              <a:endParaRPr b="0" i="0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" name="Google Shape;332;p3"/>
          <p:cNvGrpSpPr/>
          <p:nvPr/>
        </p:nvGrpSpPr>
        <p:grpSpPr>
          <a:xfrm>
            <a:off x="6286500" y="1524000"/>
            <a:ext cx="5334000" cy="4953000"/>
            <a:chOff x="6286500" y="1524000"/>
            <a:chExt cx="5334000" cy="4953000"/>
          </a:xfrm>
        </p:grpSpPr>
        <p:sp>
          <p:nvSpPr>
            <p:cNvPr id="333" name="Google Shape;333;p3"/>
            <p:cNvSpPr/>
            <p:nvPr/>
          </p:nvSpPr>
          <p:spPr>
            <a:xfrm>
              <a:off x="6286500" y="1524000"/>
              <a:ext cx="5334000" cy="49530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6286500" y="1524000"/>
              <a:ext cx="5334000" cy="571500"/>
            </a:xfrm>
            <a:prstGeom prst="roundRect">
              <a:avLst>
                <a:gd fmla="val 26666" name="adj"/>
              </a:avLst>
            </a:prstGeom>
            <a:solidFill>
              <a:srgbClr val="FFFB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"/>
            <p:cNvSpPr txBox="1"/>
            <p:nvPr/>
          </p:nvSpPr>
          <p:spPr>
            <a:xfrm>
              <a:off x="6572250" y="1524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CL" sz="2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Ubicaciones</a:t>
              </a:r>
              <a:endParaRPr b="1" i="0" sz="20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336" name="Google Shape;336;p3"/>
            <p:cNvPicPr preferRelativeResize="0"/>
            <p:nvPr/>
          </p:nvPicPr>
          <p:blipFill rotWithShape="1">
            <a:blip r:embed="rId4">
              <a:alphaModFix/>
            </a:blip>
            <a:srcRect b="0" l="14788" r="14795" t="0"/>
            <a:stretch/>
          </p:blipFill>
          <p:spPr>
            <a:xfrm>
              <a:off x="6524625" y="2286000"/>
              <a:ext cx="22860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37" name="Google Shape;337;p3"/>
            <p:cNvSpPr txBox="1"/>
            <p:nvPr/>
          </p:nvSpPr>
          <p:spPr>
            <a:xfrm>
              <a:off x="6524625" y="4095750"/>
              <a:ext cx="2286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CL" sz="11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Oficina Principal</a:t>
              </a:r>
              <a:endParaRPr b="1" i="0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CL" sz="110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Av. Sta. Rosa 12980, La Pintana</a:t>
              </a:r>
              <a:endParaRPr b="0" i="0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8" name="Google Shape;338;p3"/>
            <p:cNvPicPr preferRelativeResize="0"/>
            <p:nvPr/>
          </p:nvPicPr>
          <p:blipFill rotWithShape="1">
            <a:blip r:embed="rId5">
              <a:alphaModFix/>
            </a:blip>
            <a:srcRect b="5877" l="0" r="0" t="5885"/>
            <a:stretch/>
          </p:blipFill>
          <p:spPr>
            <a:xfrm>
              <a:off x="9096375" y="2286000"/>
              <a:ext cx="22860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39" name="Google Shape;339;p3"/>
            <p:cNvSpPr txBox="1"/>
            <p:nvPr/>
          </p:nvSpPr>
          <p:spPr>
            <a:xfrm>
              <a:off x="9096375" y="4095750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47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CL" sz="1100" u="none" cap="none" strike="noStrik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Sucursal Algarrobo</a:t>
              </a:r>
              <a:endParaRPr b="1" i="0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CL" sz="110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Av. Peñalanca 525, Algarrobo, Valparaíso</a:t>
              </a:r>
              <a:endParaRPr b="0" i="0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6" name="Google Shape;346;p4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7" name="Google Shape;347;p4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CL"/>
              <a:t>Organigrama de la empresa</a:t>
            </a:r>
            <a:endParaRPr/>
          </a:p>
        </p:txBody>
      </p:sp>
      <p:grpSp>
        <p:nvGrpSpPr>
          <p:cNvPr id="348" name="Google Shape;348;p4"/>
          <p:cNvGrpSpPr/>
          <p:nvPr/>
        </p:nvGrpSpPr>
        <p:grpSpPr>
          <a:xfrm>
            <a:off x="2028825" y="1714500"/>
            <a:ext cx="8124900" cy="952500"/>
            <a:chOff x="2028825" y="1714500"/>
            <a:chExt cx="8124900" cy="952500"/>
          </a:xfrm>
        </p:grpSpPr>
        <p:sp>
          <p:nvSpPr>
            <p:cNvPr id="349" name="Google Shape;349;p4"/>
            <p:cNvSpPr/>
            <p:nvPr/>
          </p:nvSpPr>
          <p:spPr>
            <a:xfrm>
              <a:off x="4905375" y="1714500"/>
              <a:ext cx="2381400" cy="571500"/>
            </a:xfrm>
            <a:prstGeom prst="roundRect">
              <a:avLst>
                <a:gd fmla="val 13333" name="adj"/>
              </a:avLst>
            </a:prstGeom>
            <a:solidFill>
              <a:srgbClr val="D247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"/>
            <p:cNvSpPr txBox="1"/>
            <p:nvPr/>
          </p:nvSpPr>
          <p:spPr>
            <a:xfrm>
              <a:off x="4905375" y="1714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CL" sz="16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GERENCIA GENERAL</a:t>
              </a:r>
              <a:endParaRPr b="1" i="0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351" name="Google Shape;351;p4"/>
            <p:cNvCxnSpPr/>
            <p:nvPr/>
          </p:nvCxnSpPr>
          <p:spPr>
            <a:xfrm>
              <a:off x="6096000" y="2286000"/>
              <a:ext cx="0" cy="381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2" name="Google Shape;352;p4"/>
            <p:cNvCxnSpPr/>
            <p:nvPr/>
          </p:nvCxnSpPr>
          <p:spPr>
            <a:xfrm>
              <a:off x="2028825" y="2667000"/>
              <a:ext cx="81249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3" name="Google Shape;353;p4"/>
          <p:cNvGrpSpPr/>
          <p:nvPr/>
        </p:nvGrpSpPr>
        <p:grpSpPr>
          <a:xfrm>
            <a:off x="600075" y="2667000"/>
            <a:ext cx="2857500" cy="3286125"/>
            <a:chOff x="600075" y="2667000"/>
            <a:chExt cx="2857500" cy="3286125"/>
          </a:xfrm>
        </p:grpSpPr>
        <p:cxnSp>
          <p:nvCxnSpPr>
            <p:cNvPr id="354" name="Google Shape;354;p4"/>
            <p:cNvCxnSpPr/>
            <p:nvPr/>
          </p:nvCxnSpPr>
          <p:spPr>
            <a:xfrm>
              <a:off x="2028825" y="266700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5" name="Google Shape;355;p4"/>
            <p:cNvSpPr/>
            <p:nvPr/>
          </p:nvSpPr>
          <p:spPr>
            <a:xfrm>
              <a:off x="600075" y="2952750"/>
              <a:ext cx="2857500" cy="476400"/>
            </a:xfrm>
            <a:prstGeom prst="roundRect">
              <a:avLst>
                <a:gd fmla="val 8000" name="adj"/>
              </a:avLst>
            </a:prstGeom>
            <a:solidFill>
              <a:srgbClr val="FEF2F2"/>
            </a:solidFill>
            <a:ln cap="flat" cmpd="sng" w="9525">
              <a:solidFill>
                <a:srgbClr val="D24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"/>
            <p:cNvSpPr txBox="1"/>
            <p:nvPr/>
          </p:nvSpPr>
          <p:spPr>
            <a:xfrm>
              <a:off x="600075" y="2952750"/>
              <a:ext cx="285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CL" sz="14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GERENCIA ADMINISTRATIVA</a:t>
              </a:r>
              <a:endParaRPr b="1" i="0" sz="14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600075" y="3476625"/>
              <a:ext cx="2857500" cy="24765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"/>
            <p:cNvSpPr txBox="1"/>
            <p:nvPr/>
          </p:nvSpPr>
          <p:spPr>
            <a:xfrm>
              <a:off x="695325" y="3571875"/>
              <a:ext cx="2667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Recursos Humanos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Contabilidad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Área Comercial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Gestión Financiera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Gestión de Recursos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4"/>
          <p:cNvGrpSpPr/>
          <p:nvPr/>
        </p:nvGrpSpPr>
        <p:grpSpPr>
          <a:xfrm>
            <a:off x="4667250" y="2667000"/>
            <a:ext cx="2857500" cy="3286125"/>
            <a:chOff x="4667250" y="2667000"/>
            <a:chExt cx="2857500" cy="3286125"/>
          </a:xfrm>
        </p:grpSpPr>
        <p:cxnSp>
          <p:nvCxnSpPr>
            <p:cNvPr id="360" name="Google Shape;360;p4"/>
            <p:cNvCxnSpPr/>
            <p:nvPr/>
          </p:nvCxnSpPr>
          <p:spPr>
            <a:xfrm>
              <a:off x="6096000" y="266700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1" name="Google Shape;361;p4"/>
            <p:cNvSpPr/>
            <p:nvPr/>
          </p:nvSpPr>
          <p:spPr>
            <a:xfrm>
              <a:off x="4667250" y="2952750"/>
              <a:ext cx="2857500" cy="476400"/>
            </a:xfrm>
            <a:prstGeom prst="roundRect">
              <a:avLst>
                <a:gd fmla="val 8000" name="adj"/>
              </a:avLst>
            </a:prstGeom>
            <a:solidFill>
              <a:srgbClr val="FEF2F2"/>
            </a:solidFill>
            <a:ln cap="flat" cmpd="sng" w="9525">
              <a:solidFill>
                <a:srgbClr val="D24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"/>
            <p:cNvSpPr txBox="1"/>
            <p:nvPr/>
          </p:nvSpPr>
          <p:spPr>
            <a:xfrm>
              <a:off x="4667250" y="2952750"/>
              <a:ext cx="285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CL" sz="14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GERENCIA TÉCNICA</a:t>
              </a:r>
              <a:endParaRPr b="1" i="0" sz="14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4667250" y="3476625"/>
              <a:ext cx="2857500" cy="24765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"/>
            <p:cNvSpPr txBox="1"/>
            <p:nvPr/>
          </p:nvSpPr>
          <p:spPr>
            <a:xfrm>
              <a:off x="4762500" y="3571875"/>
              <a:ext cx="2667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Instalaciones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Reparaciones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Inventario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Soporte Técnico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Ventas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4"/>
          <p:cNvGrpSpPr/>
          <p:nvPr/>
        </p:nvGrpSpPr>
        <p:grpSpPr>
          <a:xfrm>
            <a:off x="8724900" y="2667000"/>
            <a:ext cx="2857500" cy="3286125"/>
            <a:chOff x="8724900" y="2667000"/>
            <a:chExt cx="2857500" cy="3286125"/>
          </a:xfrm>
        </p:grpSpPr>
        <p:cxnSp>
          <p:nvCxnSpPr>
            <p:cNvPr id="366" name="Google Shape;366;p4"/>
            <p:cNvCxnSpPr/>
            <p:nvPr/>
          </p:nvCxnSpPr>
          <p:spPr>
            <a:xfrm>
              <a:off x="10153650" y="266700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7" name="Google Shape;367;p4"/>
            <p:cNvSpPr/>
            <p:nvPr/>
          </p:nvSpPr>
          <p:spPr>
            <a:xfrm>
              <a:off x="8724900" y="2952750"/>
              <a:ext cx="2857500" cy="476400"/>
            </a:xfrm>
            <a:prstGeom prst="roundRect">
              <a:avLst>
                <a:gd fmla="val 8000" name="adj"/>
              </a:avLst>
            </a:prstGeom>
            <a:solidFill>
              <a:srgbClr val="FEF2F2"/>
            </a:solidFill>
            <a:ln cap="flat" cmpd="sng" w="9525">
              <a:solidFill>
                <a:srgbClr val="D24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"/>
            <p:cNvSpPr txBox="1"/>
            <p:nvPr/>
          </p:nvSpPr>
          <p:spPr>
            <a:xfrm>
              <a:off x="8724900" y="2952750"/>
              <a:ext cx="285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CL" sz="14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OFICINA CENTRAL NOC</a:t>
              </a:r>
              <a:endParaRPr b="1" i="0" sz="14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8724900" y="3476625"/>
              <a:ext cx="2857500" cy="24765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"/>
            <p:cNvSpPr txBox="1"/>
            <p:nvPr/>
          </p:nvSpPr>
          <p:spPr>
            <a:xfrm>
              <a:off x="8820150" y="3571875"/>
              <a:ext cx="2667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Monitoreo Redes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Innovación (Nodos)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Ingeniería y Desarrollo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Normatizaciones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i="0" lang="en-CL" sz="1200" u="none" cap="none" strike="noStrike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Planta Externa</a:t>
              </a:r>
              <a:endParaRPr b="0" i="0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6" name="Google Shape;376;p5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7" name="Google Shape;377;p5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CL"/>
              <a:t>Análisis PESTEL</a:t>
            </a:r>
            <a:endParaRPr/>
          </a:p>
        </p:txBody>
      </p:sp>
      <p:grpSp>
        <p:nvGrpSpPr>
          <p:cNvPr id="378" name="Google Shape;378;p5"/>
          <p:cNvGrpSpPr/>
          <p:nvPr/>
        </p:nvGrpSpPr>
        <p:grpSpPr>
          <a:xfrm>
            <a:off x="571500" y="1524000"/>
            <a:ext cx="11049075" cy="4762500"/>
            <a:chOff x="571500" y="1524000"/>
            <a:chExt cx="11049075" cy="4762500"/>
          </a:xfrm>
        </p:grpSpPr>
        <p:sp>
          <p:nvSpPr>
            <p:cNvPr id="379" name="Google Shape;379;p5"/>
            <p:cNvSpPr/>
            <p:nvPr/>
          </p:nvSpPr>
          <p:spPr>
            <a:xfrm>
              <a:off x="571500" y="1524000"/>
              <a:ext cx="35529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571500" y="1524000"/>
              <a:ext cx="3552900" cy="381000"/>
            </a:xfrm>
            <a:prstGeom prst="roundRect">
              <a:avLst>
                <a:gd fmla="val 3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571500" y="1714500"/>
              <a:ext cx="3552900" cy="190500"/>
            </a:xfrm>
            <a:prstGeom prst="rect">
              <a:avLst/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5"/>
            <p:cNvSpPr txBox="1"/>
            <p:nvPr/>
          </p:nvSpPr>
          <p:spPr>
            <a:xfrm>
              <a:off x="714375" y="1524000"/>
              <a:ext cx="32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CL" sz="16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 - POLÍTICO</a:t>
              </a:r>
              <a:endParaRPr b="1" i="0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83" name="Google Shape;383;p5"/>
            <p:cNvSpPr txBox="1"/>
            <p:nvPr/>
          </p:nvSpPr>
          <p:spPr>
            <a:xfrm>
              <a:off x="714375" y="2000250"/>
              <a:ext cx="3267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Regulación SUBTEL: fiscaliza estándares y concesiones ISP.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Plan Brecha Digital Cero (2022).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Ley 21.172: retiro de cables en desuso en vía pública.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4314825" y="1524000"/>
              <a:ext cx="35622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4314825" y="1524000"/>
              <a:ext cx="3562200" cy="381000"/>
            </a:xfrm>
            <a:prstGeom prst="roundRect">
              <a:avLst>
                <a:gd fmla="val 3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4314825" y="1714500"/>
              <a:ext cx="3562200" cy="1905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5"/>
            <p:cNvSpPr txBox="1"/>
            <p:nvPr/>
          </p:nvSpPr>
          <p:spPr>
            <a:xfrm>
              <a:off x="4457700" y="1524000"/>
              <a:ext cx="3276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CL" sz="16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 - ECONÓMICO</a:t>
              </a:r>
              <a:endParaRPr b="1" i="0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88" name="Google Shape;388;p5"/>
            <p:cNvSpPr txBox="1"/>
            <p:nvPr/>
          </p:nvSpPr>
          <p:spPr>
            <a:xfrm>
              <a:off x="4457700" y="2000250"/>
              <a:ext cx="3276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OLT ~$1.000.000 CLP • ONT ~$50.000 CLP/unidad.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Cobranza flexible: sin fecha fija, prórroga 4 días por morosidad.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Pago principal vía Link Transbank por WhatsApp.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8067675" y="1524000"/>
              <a:ext cx="35529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8067675" y="1524000"/>
              <a:ext cx="3552900" cy="381000"/>
            </a:xfrm>
            <a:prstGeom prst="roundRect">
              <a:avLst>
                <a:gd fmla="val 3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8067675" y="1714500"/>
              <a:ext cx="3552900" cy="1905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"/>
            <p:cNvSpPr txBox="1"/>
            <p:nvPr/>
          </p:nvSpPr>
          <p:spPr>
            <a:xfrm>
              <a:off x="8210550" y="1524000"/>
              <a:ext cx="32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CL" sz="16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 - SOCIOCULTURAL</a:t>
              </a:r>
              <a:endParaRPr b="1" i="0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93" name="Google Shape;393;p5"/>
            <p:cNvSpPr txBox="1"/>
            <p:nvPr/>
          </p:nvSpPr>
          <p:spPr>
            <a:xfrm>
              <a:off x="8210550" y="2000250"/>
              <a:ext cx="3267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Cliente residencial + B2B emergente (colegios, retail).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Baja alfabetización digital en comunas sur-oriente.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90% de gestión vía WhatsApp como canal de confianza.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571500" y="4000500"/>
              <a:ext cx="35529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571500" y="4000500"/>
              <a:ext cx="3552900" cy="381000"/>
            </a:xfrm>
            <a:prstGeom prst="roundRect">
              <a:avLst>
                <a:gd fmla="val 3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571500" y="4191000"/>
              <a:ext cx="3552900" cy="19050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 txBox="1"/>
            <p:nvPr/>
          </p:nvSpPr>
          <p:spPr>
            <a:xfrm>
              <a:off x="714375" y="4000500"/>
              <a:ext cx="32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CL" sz="16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 - TECNOLÓGICO</a:t>
              </a:r>
              <a:endParaRPr b="1" i="0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98" name="Google Shape;398;p5"/>
            <p:cNvSpPr txBox="1"/>
            <p:nvPr/>
          </p:nvSpPr>
          <p:spPr>
            <a:xfrm>
              <a:off x="714375" y="4476750"/>
              <a:ext cx="3267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Estándar GPON avanzando hacia XGS-PON.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Agotamiento IPv4 -&gt; CGNAT, apoyo con IPv6.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Wisp gestionada vía Mesh y facturación electrónica SII.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314825" y="4000500"/>
              <a:ext cx="35622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4314825" y="4000500"/>
              <a:ext cx="3562200" cy="381000"/>
            </a:xfrm>
            <a:prstGeom prst="roundRect">
              <a:avLst>
                <a:gd fmla="val 30000" name="adj"/>
              </a:avLst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4314825" y="4191000"/>
              <a:ext cx="3562200" cy="190500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"/>
            <p:cNvSpPr txBox="1"/>
            <p:nvPr/>
          </p:nvSpPr>
          <p:spPr>
            <a:xfrm>
              <a:off x="4457700" y="4000500"/>
              <a:ext cx="3276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CL" sz="16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 - ECOLÓGICO</a:t>
              </a:r>
              <a:endParaRPr b="1" i="0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3" name="Google Shape;403;p5"/>
            <p:cNvSpPr txBox="1"/>
            <p:nvPr/>
          </p:nvSpPr>
          <p:spPr>
            <a:xfrm>
              <a:off x="4457700" y="4476750"/>
              <a:ext cx="3276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Tendido de fibra genera impacto en entorno urbano.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Eficiencia energética: nodos OLT, EFA y UPS.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Equipos ONT retirados regulados por ley REP Nº 20.920.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8067675" y="4000500"/>
              <a:ext cx="35529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8067675" y="4000500"/>
              <a:ext cx="3552900" cy="381000"/>
            </a:xfrm>
            <a:prstGeom prst="roundRect">
              <a:avLst>
                <a:gd fmla="val 3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8067675" y="4191000"/>
              <a:ext cx="3552900" cy="1905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"/>
            <p:cNvSpPr txBox="1"/>
            <p:nvPr/>
          </p:nvSpPr>
          <p:spPr>
            <a:xfrm>
              <a:off x="8210550" y="4000500"/>
              <a:ext cx="32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CL" sz="1600" u="none" cap="none" strike="noStrik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 - LEGAL</a:t>
              </a:r>
              <a:endParaRPr b="1" i="0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8" name="Google Shape;408;p5"/>
            <p:cNvSpPr txBox="1"/>
            <p:nvPr/>
          </p:nvSpPr>
          <p:spPr>
            <a:xfrm>
              <a:off x="8210550" y="4476750"/>
              <a:ext cx="3267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Ley 18.168 Telecomunicaciones.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Ley 20.453 Neutralidad de Red.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Ley 19.628 Protección de Datos.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b="0" i="0" lang="en-CL" sz="1100" u="none" cap="none" strike="noStrike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Ley REP Nº 20.920 (Reciclaje).</a:t>
              </a:r>
              <a:endParaRPr b="0" i="0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4" name="Google Shape;414;p6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5" name="Google Shape;415;p6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CL"/>
              <a:t>5 Fuerzas de Porter</a:t>
            </a:r>
            <a:endParaRPr/>
          </a:p>
        </p:txBody>
      </p:sp>
      <p:grpSp>
        <p:nvGrpSpPr>
          <p:cNvPr id="416" name="Google Shape;416;p6"/>
          <p:cNvGrpSpPr/>
          <p:nvPr/>
        </p:nvGrpSpPr>
        <p:grpSpPr>
          <a:xfrm>
            <a:off x="2095500" y="1428750"/>
            <a:ext cx="8001000" cy="4953150"/>
            <a:chOff x="2095500" y="1428750"/>
            <a:chExt cx="8001000" cy="4953150"/>
          </a:xfrm>
        </p:grpSpPr>
        <p:sp>
          <p:nvSpPr>
            <p:cNvPr id="417" name="Google Shape;417;p6"/>
            <p:cNvSpPr/>
            <p:nvPr/>
          </p:nvSpPr>
          <p:spPr>
            <a:xfrm>
              <a:off x="4953000" y="3048000"/>
              <a:ext cx="2286000" cy="17145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19050">
              <a:solidFill>
                <a:srgbClr val="D247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6"/>
            <p:cNvSpPr txBox="1"/>
            <p:nvPr/>
          </p:nvSpPr>
          <p:spPr>
            <a:xfrm>
              <a:off x="5048250" y="3143250"/>
              <a:ext cx="2095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CL" sz="14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Rivalidad entre competidores</a:t>
              </a:r>
              <a:endParaRPr b="1" i="0" sz="14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CL" sz="1000" u="none" cap="none" strike="noStrike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Alto. Mercado saturado con grandes empresas como Movistar, WOM, Entel, VTR, Claro y ISP locales, generando fuerte competencia en precios de los planes, servicios y los tipos de conexiones ofrecidas.</a:t>
              </a:r>
              <a:endParaRPr b="0" i="0" sz="10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4953000" y="1428750"/>
              <a:ext cx="2286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6"/>
            <p:cNvSpPr txBox="1"/>
            <p:nvPr/>
          </p:nvSpPr>
          <p:spPr>
            <a:xfrm>
              <a:off x="5048250" y="1524000"/>
              <a:ext cx="2095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CL" sz="1200" u="none" cap="none" strike="noStrike">
                  <a:solidFill>
                    <a:srgbClr val="1E40A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Nuevos entrantes</a:t>
              </a:r>
              <a:endParaRPr b="1" i="0" sz="1200" u="none" cap="none" strike="noStrike">
                <a:solidFill>
                  <a:srgbClr val="1E40A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CL" sz="950" u="none" cap="none" strike="noStrike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Medio. Existen barreras de entrada por tecnología, accesible permite la aparición de nuevos ISP en nichos específicos como regiones dependiendo de sus necesidades.</a:t>
              </a:r>
              <a:endParaRPr b="0" i="0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4953000" y="4953000"/>
              <a:ext cx="2286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6"/>
            <p:cNvSpPr txBox="1"/>
            <p:nvPr/>
          </p:nvSpPr>
          <p:spPr>
            <a:xfrm>
              <a:off x="5048250" y="5048250"/>
              <a:ext cx="2095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CL" sz="1200" u="none" cap="none" strike="noStrike">
                  <a:solidFill>
                    <a:srgbClr val="7C3AE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Productos sustitutos</a:t>
              </a:r>
              <a:endParaRPr b="1" i="0" sz="1200" u="none" cap="none" strike="noStrike">
                <a:solidFill>
                  <a:srgbClr val="7C3AED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CL" sz="950" u="none" cap="none" strike="noStrike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Medio. Alternativas como 4G/5G y satelital existen (Starlink), pero la fibra óptica sigue siendo superior, especialmente en zonas urbanas y periferia.</a:t>
              </a:r>
              <a:endParaRPr b="0" i="0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2095500" y="3048000"/>
              <a:ext cx="2286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6"/>
            <p:cNvSpPr txBox="1"/>
            <p:nvPr/>
          </p:nvSpPr>
          <p:spPr>
            <a:xfrm>
              <a:off x="2190750" y="3143250"/>
              <a:ext cx="2095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CL" sz="1200" u="none" cap="none" strike="noStrike">
                  <a:solidFill>
                    <a:srgbClr val="D9770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Poder de proveedores</a:t>
              </a:r>
              <a:endParaRPr b="1" i="0" sz="12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CL" sz="950" u="none" cap="none" strike="noStrike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Alto. Dependencia de pocos proveedores de conectividad (Conexión que viene desde EE.UU. vía La Florida) y equipamiento, con costos elevados y limitada capacidad de negociación.</a:t>
              </a:r>
              <a:endParaRPr b="0" i="0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7810500" y="3048000"/>
              <a:ext cx="2286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6"/>
            <p:cNvSpPr txBox="1"/>
            <p:nvPr/>
          </p:nvSpPr>
          <p:spPr>
            <a:xfrm>
              <a:off x="7905750" y="3143250"/>
              <a:ext cx="2095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CL" sz="1200" u="none" cap="none" strike="noStrike">
                  <a:solidFill>
                    <a:srgbClr val="0596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Poder de clientes</a:t>
              </a:r>
              <a:endParaRPr b="1" i="0" sz="12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CL" sz="950" u="none" cap="none" strike="noStrike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Muy Alto. Gran cantidad de proveedores en la RM y planes con precios similares para cada uno con una ventaja u otra, lo que obliga a competir en precio, calidad de servicio y ventajas sobre la competencia.</a:t>
              </a:r>
              <a:endParaRPr b="0" i="0" sz="9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427" name="Google Shape;42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86475" y="28575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86475" y="47625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81500" y="3895725"/>
              <a:ext cx="5715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0" name="Google Shape;430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39000" y="3895725"/>
              <a:ext cx="571500" cy="19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</a:pPr>
            <a:r>
              <a:rPr lang="en-CL"/>
              <a:t>Cadena de Valor </a:t>
            </a:r>
            <a:endParaRPr/>
          </a:p>
        </p:txBody>
      </p:sp>
      <p:pic>
        <p:nvPicPr>
          <p:cNvPr id="436" name="Google Shape;436;p7" title="Tan Orange and Green Modern Business Porter Value Model 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375" y="1344125"/>
            <a:ext cx="9887923" cy="556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"/>
          <p:cNvSpPr/>
          <p:nvPr/>
        </p:nvSpPr>
        <p:spPr>
          <a:xfrm>
            <a:off x="0" y="0"/>
            <a:ext cx="12192000" cy="13326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8"/>
          <p:cNvSpPr txBox="1"/>
          <p:nvPr/>
        </p:nvSpPr>
        <p:spPr>
          <a:xfrm>
            <a:off x="604838" y="0"/>
            <a:ext cx="107490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CL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Análisis FODA</a:t>
            </a:r>
            <a:endParaRPr b="0" i="0" sz="36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43" name="Google Shape;443;p8"/>
          <p:cNvGrpSpPr/>
          <p:nvPr/>
        </p:nvGrpSpPr>
        <p:grpSpPr>
          <a:xfrm>
            <a:off x="604838" y="1714500"/>
            <a:ext cx="5238900" cy="2190900"/>
            <a:chOff x="604838" y="1714500"/>
            <a:chExt cx="5238900" cy="2190900"/>
          </a:xfrm>
        </p:grpSpPr>
        <p:sp>
          <p:nvSpPr>
            <p:cNvPr id="444" name="Google Shape;444;p8"/>
            <p:cNvSpPr/>
            <p:nvPr/>
          </p:nvSpPr>
          <p:spPr>
            <a:xfrm>
              <a:off x="604838" y="1714500"/>
              <a:ext cx="5238900" cy="2190900"/>
            </a:xfrm>
            <a:prstGeom prst="roundRect">
              <a:avLst>
                <a:gd fmla="val 5217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8"/>
            <p:cNvSpPr txBox="1"/>
            <p:nvPr/>
          </p:nvSpPr>
          <p:spPr>
            <a:xfrm>
              <a:off x="795338" y="1857375"/>
              <a:ext cx="4857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CL" sz="2000" u="none" cap="none" strike="noStrike">
                  <a:solidFill>
                    <a:srgbClr val="1E40A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Fortalezas</a:t>
              </a:r>
              <a:endParaRPr b="1" i="0" sz="2000" u="none" cap="none" strike="noStrike">
                <a:solidFill>
                  <a:srgbClr val="1E40A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Infraestructura tecnológica moderna (OLT, PON, NAP, ONT)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Conexión internacional directa a EE.UU.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Atención cercana y personalizada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45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+7 años de trayectoria en el mercado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46" name="Google Shape;446;p8"/>
          <p:cNvGrpSpPr/>
          <p:nvPr/>
        </p:nvGrpSpPr>
        <p:grpSpPr>
          <a:xfrm>
            <a:off x="6348413" y="1714500"/>
            <a:ext cx="5238900" cy="2190900"/>
            <a:chOff x="6348413" y="1714500"/>
            <a:chExt cx="5238900" cy="2190900"/>
          </a:xfrm>
        </p:grpSpPr>
        <p:sp>
          <p:nvSpPr>
            <p:cNvPr id="447" name="Google Shape;447;p8"/>
            <p:cNvSpPr/>
            <p:nvPr/>
          </p:nvSpPr>
          <p:spPr>
            <a:xfrm>
              <a:off x="6348413" y="1714500"/>
              <a:ext cx="5238900" cy="2190900"/>
            </a:xfrm>
            <a:prstGeom prst="roundRect">
              <a:avLst>
                <a:gd fmla="val 5217" name="adj"/>
              </a:avLst>
            </a:prstGeom>
            <a:solidFill>
              <a:srgbClr val="F0FDF4"/>
            </a:solidFill>
            <a:ln cap="flat" cmpd="sng" w="9525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8"/>
            <p:cNvSpPr txBox="1"/>
            <p:nvPr/>
          </p:nvSpPr>
          <p:spPr>
            <a:xfrm>
              <a:off x="6538913" y="1857375"/>
              <a:ext cx="4857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CL" sz="2000" u="none" cap="none" strike="noStrike">
                  <a:solidFill>
                    <a:srgbClr val="15803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Oportunidades</a:t>
              </a:r>
              <a:endParaRPr b="1" i="0" sz="2000" u="none" cap="none" strike="noStrike">
                <a:solidFill>
                  <a:srgbClr val="15803D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Desarrollo del sistema FSM integrado (CRM + Inv + Terreno)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Potencial de comercialización como SaaS (ISPs zona roja)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Migración de planta a ubicación más segura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45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Reducción de visitas técnicas con filtrado digital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49" name="Google Shape;449;p8"/>
          <p:cNvGrpSpPr/>
          <p:nvPr/>
        </p:nvGrpSpPr>
        <p:grpSpPr>
          <a:xfrm>
            <a:off x="604838" y="4191000"/>
            <a:ext cx="5238900" cy="2190900"/>
            <a:chOff x="604838" y="4191000"/>
            <a:chExt cx="5238900" cy="2190900"/>
          </a:xfrm>
        </p:grpSpPr>
        <p:sp>
          <p:nvSpPr>
            <p:cNvPr id="450" name="Google Shape;450;p8"/>
            <p:cNvSpPr/>
            <p:nvPr/>
          </p:nvSpPr>
          <p:spPr>
            <a:xfrm>
              <a:off x="604838" y="4191000"/>
              <a:ext cx="5238900" cy="2190900"/>
            </a:xfrm>
            <a:prstGeom prst="roundRect">
              <a:avLst>
                <a:gd fmla="val 5217" name="adj"/>
              </a:avLst>
            </a:prstGeom>
            <a:solidFill>
              <a:srgbClr val="FFFBEB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8"/>
            <p:cNvSpPr txBox="1"/>
            <p:nvPr/>
          </p:nvSpPr>
          <p:spPr>
            <a:xfrm>
              <a:off x="795338" y="4333875"/>
              <a:ext cx="4857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CL" sz="2000" u="none" cap="none" strike="noStrike">
                  <a:solidFill>
                    <a:srgbClr val="B4530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Debilidades</a:t>
              </a:r>
              <a:endParaRPr b="1" i="0" sz="2000" u="none" cap="none" strike="noStrike">
                <a:solidFill>
                  <a:srgbClr val="B4530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90% dependencia de WhatsApp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Información fragmentada en Google Sheets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Área de inventario crítica: sin trazabilidad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45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Alta dependencia de personas clave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52" name="Google Shape;452;p8"/>
          <p:cNvGrpSpPr/>
          <p:nvPr/>
        </p:nvGrpSpPr>
        <p:grpSpPr>
          <a:xfrm>
            <a:off x="6348413" y="4191000"/>
            <a:ext cx="5238900" cy="2190900"/>
            <a:chOff x="6348413" y="4191000"/>
            <a:chExt cx="5238900" cy="2190900"/>
          </a:xfrm>
        </p:grpSpPr>
        <p:sp>
          <p:nvSpPr>
            <p:cNvPr id="453" name="Google Shape;453;p8"/>
            <p:cNvSpPr/>
            <p:nvPr/>
          </p:nvSpPr>
          <p:spPr>
            <a:xfrm>
              <a:off x="6348413" y="4191000"/>
              <a:ext cx="5238900" cy="2190900"/>
            </a:xfrm>
            <a:prstGeom prst="roundRect">
              <a:avLst>
                <a:gd fmla="val 5217" name="adj"/>
              </a:avLst>
            </a:prstGeom>
            <a:solidFill>
              <a:srgbClr val="FEF2F2"/>
            </a:solidFill>
            <a:ln cap="flat" cmpd="sng" w="9525">
              <a:solidFill>
                <a:srgbClr val="FECA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8"/>
            <p:cNvSpPr txBox="1"/>
            <p:nvPr/>
          </p:nvSpPr>
          <p:spPr>
            <a:xfrm>
              <a:off x="6538913" y="4333875"/>
              <a:ext cx="4857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CL" sz="2000" u="none" cap="none" strike="noStrike">
                  <a:solidFill>
                    <a:srgbClr val="B91C1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Amenazas</a:t>
              </a:r>
              <a:endParaRPr b="1" i="0" sz="2000" u="none" cap="none" strike="noStrike">
                <a:solidFill>
                  <a:srgbClr val="B91C1C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Sabotajes de competencia (corte fibra, robo cajas NAP)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Robos internos en inventario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Dependencia de plataformas externas (caída WhatsApp)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450"/>
                </a:spcAft>
                <a:buClr>
                  <a:srgbClr val="334155"/>
                </a:buClr>
                <a:buSzPts val="1200"/>
                <a:buFont typeface="Quattrocento Sans"/>
                <a:buChar char="●"/>
              </a:pPr>
              <a:r>
                <a:rPr b="0" i="0" lang="en-CL" sz="12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Pérdida de conocimiento por retiro de encargado clave</a:t>
              </a:r>
              <a:endParaRPr b="0" i="0" sz="12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9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2" name="Google Shape;462;p9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CL"/>
              <a:t>Herramientas Cuantitativas</a:t>
            </a:r>
            <a:endParaRPr/>
          </a:p>
        </p:txBody>
      </p:sp>
      <p:sp>
        <p:nvSpPr>
          <p:cNvPr id="463" name="Google Shape;463;p9"/>
          <p:cNvSpPr/>
          <p:nvPr/>
        </p:nvSpPr>
        <p:spPr>
          <a:xfrm>
            <a:off x="571500" y="1905000"/>
            <a:ext cx="5334000" cy="4000500"/>
          </a:xfrm>
          <a:prstGeom prst="roundRect">
            <a:avLst>
              <a:gd fmla="val 28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6286500" y="1905000"/>
            <a:ext cx="5334000" cy="4000500"/>
          </a:xfrm>
          <a:prstGeom prst="roundRect">
            <a:avLst>
              <a:gd fmla="val 28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5" name="Google Shape;465;p9"/>
          <p:cNvGrpSpPr/>
          <p:nvPr/>
        </p:nvGrpSpPr>
        <p:grpSpPr>
          <a:xfrm>
            <a:off x="762000" y="2095500"/>
            <a:ext cx="4953000" cy="3429000"/>
            <a:chOff x="762000" y="2095500"/>
            <a:chExt cx="4953000" cy="3429000"/>
          </a:xfrm>
        </p:grpSpPr>
        <p:pic>
          <p:nvPicPr>
            <p:cNvPr id="466" name="Google Shape;466;p9"/>
            <p:cNvPicPr preferRelativeResize="0"/>
            <p:nvPr/>
          </p:nvPicPr>
          <p:blipFill rotWithShape="1">
            <a:blip r:embed="rId4">
              <a:alphaModFix/>
            </a:blip>
            <a:srcRect b="0" l="8417" r="8409" t="0"/>
            <a:stretch/>
          </p:blipFill>
          <p:spPr>
            <a:xfrm>
              <a:off x="762000" y="2667000"/>
              <a:ext cx="4953000" cy="2857500"/>
            </a:xfrm>
            <a:prstGeom prst="roundRect">
              <a:avLst>
                <a:gd fmla="val 2666" name="adj"/>
              </a:avLst>
            </a:prstGeom>
            <a:noFill/>
            <a:ln>
              <a:noFill/>
            </a:ln>
          </p:spPr>
        </p:pic>
        <p:sp>
          <p:nvSpPr>
            <p:cNvPr id="467" name="Google Shape;467;p9"/>
            <p:cNvSpPr txBox="1"/>
            <p:nvPr/>
          </p:nvSpPr>
          <p:spPr>
            <a:xfrm>
              <a:off x="762000" y="2095500"/>
              <a:ext cx="495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CL" sz="14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Gráfico 8.5.1 – Volumen operativo mensual estimado – FINet</a:t>
              </a:r>
              <a:endParaRPr b="1" i="0" sz="14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68" name="Google Shape;468;p9"/>
          <p:cNvGrpSpPr/>
          <p:nvPr/>
        </p:nvGrpSpPr>
        <p:grpSpPr>
          <a:xfrm>
            <a:off x="6477000" y="2095500"/>
            <a:ext cx="4953000" cy="3429000"/>
            <a:chOff x="6477000" y="2095500"/>
            <a:chExt cx="4953000" cy="3429000"/>
          </a:xfrm>
        </p:grpSpPr>
        <p:pic>
          <p:nvPicPr>
            <p:cNvPr id="469" name="Google Shape;469;p9"/>
            <p:cNvPicPr preferRelativeResize="0"/>
            <p:nvPr/>
          </p:nvPicPr>
          <p:blipFill rotWithShape="1">
            <a:blip r:embed="rId5">
              <a:alphaModFix/>
            </a:blip>
            <a:srcRect b="0" l="1503" r="1513" t="0"/>
            <a:stretch/>
          </p:blipFill>
          <p:spPr>
            <a:xfrm>
              <a:off x="6477000" y="2667000"/>
              <a:ext cx="4953000" cy="2857500"/>
            </a:xfrm>
            <a:prstGeom prst="roundRect">
              <a:avLst>
                <a:gd fmla="val 2666" name="adj"/>
              </a:avLst>
            </a:prstGeom>
            <a:noFill/>
            <a:ln>
              <a:noFill/>
            </a:ln>
          </p:spPr>
        </p:pic>
        <p:sp>
          <p:nvSpPr>
            <p:cNvPr id="470" name="Google Shape;470;p9"/>
            <p:cNvSpPr txBox="1"/>
            <p:nvPr/>
          </p:nvSpPr>
          <p:spPr>
            <a:xfrm>
              <a:off x="6477000" y="2095500"/>
              <a:ext cx="495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CL" sz="1400" u="none" cap="none" strike="noStrike">
                  <a:solidFill>
                    <a:srgbClr val="334155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Gráfico 8.5.2 – Diagrama de Pareto – Tipos de reclamos técnicos</a:t>
              </a:r>
              <a:endParaRPr b="1" i="0" sz="140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71" name="Google Shape;471;p9"/>
          <p:cNvGrpSpPr/>
          <p:nvPr/>
        </p:nvGrpSpPr>
        <p:grpSpPr>
          <a:xfrm>
            <a:off x="571500" y="1428750"/>
            <a:ext cx="11049000" cy="381000"/>
            <a:chOff x="571500" y="1428750"/>
            <a:chExt cx="11049000" cy="381000"/>
          </a:xfrm>
        </p:grpSpPr>
        <p:sp>
          <p:nvSpPr>
            <p:cNvPr id="472" name="Google Shape;472;p9"/>
            <p:cNvSpPr/>
            <p:nvPr/>
          </p:nvSpPr>
          <p:spPr>
            <a:xfrm>
              <a:off x="571500" y="1428750"/>
              <a:ext cx="11049000" cy="381000"/>
            </a:xfrm>
            <a:prstGeom prst="roundRect">
              <a:avLst>
                <a:gd fmla="val 50000" name="adj"/>
              </a:avLst>
            </a:prstGeom>
            <a:solidFill>
              <a:srgbClr val="D24726">
                <a:alpha val="10196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9"/>
            <p:cNvSpPr txBox="1"/>
            <p:nvPr/>
          </p:nvSpPr>
          <p:spPr>
            <a:xfrm>
              <a:off x="762000" y="1428750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CL" sz="12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Resumen de métricas operativas y análisis de causas principales de fallas técnicas.</a:t>
              </a:r>
              <a:endParaRPr b="0" i="0" sz="12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474" name="Google Shape;474;p9"/>
          <p:cNvSpPr txBox="1"/>
          <p:nvPr/>
        </p:nvSpPr>
        <p:spPr>
          <a:xfrm>
            <a:off x="571500" y="600075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CL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Fuente: Datos internos de operación FINet</a:t>
            </a:r>
            <a:endParaRPr b="0" i="0" sz="1000" u="none" cap="none" strike="noStrike">
              <a:solidFill>
                <a:srgbClr val="64748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0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CL"/>
              <a:t>Herramienta Cualitativa: Ishikawa</a:t>
            </a:r>
            <a:endParaRPr/>
          </a:p>
        </p:txBody>
      </p:sp>
      <p:pic>
        <p:nvPicPr>
          <p:cNvPr id="481" name="Google Shape;481;p10" title="Gráfico Diagrama de Ishikawa Espina de Pescado Corporativo y Sencillo Azul Verde y Negr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3150" y="1337475"/>
            <a:ext cx="7600723" cy="57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1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571500" y="1428750"/>
            <a:ext cx="11049000" cy="381000"/>
          </a:xfrm>
          <a:prstGeom prst="roundRect">
            <a:avLst>
              <a:gd fmla="val 50000" name="adj"/>
            </a:avLst>
          </a:prstGeom>
          <a:solidFill>
            <a:srgbClr val="D24726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0" name="Google Shape;490;p11"/>
          <p:cNvSpPr txBox="1"/>
          <p:nvPr/>
        </p:nvSpPr>
        <p:spPr>
          <a:xfrm>
            <a:off x="762000" y="142875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CL" sz="12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Mapeo detallado del flujo operativo actual utilizando la notación BPMN para identificar cuellos de botella y oportunidades de mejora.</a:t>
            </a:r>
            <a:endParaRPr b="0" i="0" sz="1200" u="none" cap="none" strike="noStrike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1" name="Google Shape;491;p11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CL"/>
              <a:t>Levantamiento de Procesos Inicial (BPMN)</a:t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571500" y="1952625"/>
            <a:ext cx="11049000" cy="447690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p11" title="Bizagi foto 1.png"/>
          <p:cNvPicPr preferRelativeResize="0"/>
          <p:nvPr/>
        </p:nvPicPr>
        <p:blipFill rotWithShape="1">
          <a:blip r:embed="rId4">
            <a:alphaModFix/>
          </a:blip>
          <a:srcRect b="11521" l="0" r="0" t="11521"/>
          <a:stretch/>
        </p:blipFill>
        <p:spPr>
          <a:xfrm>
            <a:off x="809625" y="2190750"/>
            <a:ext cx="105729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1"/>
          <p:cNvSpPr txBox="1"/>
          <p:nvPr/>
        </p:nvSpPr>
        <p:spPr>
          <a:xfrm>
            <a:off x="571500" y="6477000"/>
            <a:ext cx="11049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CL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Fuente: Elaboración propia basada en levantamiento de campo - FINet</a:t>
            </a:r>
            <a:endParaRPr b="0" i="0" sz="1000" u="none" cap="none" strike="noStrike">
              <a:solidFill>
                <a:srgbClr val="64748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2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2" name="Google Shape;502;p12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CL"/>
              <a:t>Levantamiento de Procesos Inicial (BPMN)</a:t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571500" y="1428750"/>
            <a:ext cx="11049000" cy="381000"/>
          </a:xfrm>
          <a:prstGeom prst="roundRect">
            <a:avLst>
              <a:gd fmla="val 50000" name="adj"/>
            </a:avLst>
          </a:prstGeom>
          <a:solidFill>
            <a:srgbClr val="D24726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 txBox="1"/>
          <p:nvPr/>
        </p:nvSpPr>
        <p:spPr>
          <a:xfrm>
            <a:off x="762000" y="142875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L" sz="1200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Mapeo detallado del flujo operativo actual utilizando la notación BPMN para identificar cuellos de botella y oportunidades de mejora.</a:t>
            </a:r>
            <a:endParaRPr sz="1200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571500" y="1952625"/>
            <a:ext cx="11049000" cy="4476900"/>
          </a:xfrm>
          <a:prstGeom prst="roundRect">
            <a:avLst>
              <a:gd fmla="val 25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6" name="Google Shape;506;p12"/>
          <p:cNvPicPr preferRelativeResize="0"/>
          <p:nvPr/>
        </p:nvPicPr>
        <p:blipFill rotWithShape="1">
          <a:blip r:embed="rId3">
            <a:alphaModFix/>
          </a:blip>
          <a:srcRect b="0" l="11862" r="11854" t="0"/>
          <a:stretch/>
        </p:blipFill>
        <p:spPr>
          <a:xfrm>
            <a:off x="809625" y="2190750"/>
            <a:ext cx="52389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2"/>
          <p:cNvPicPr preferRelativeResize="0"/>
          <p:nvPr/>
        </p:nvPicPr>
        <p:blipFill rotWithShape="1">
          <a:blip r:embed="rId4">
            <a:alphaModFix/>
          </a:blip>
          <a:srcRect b="8732" l="0" r="0" t="8732"/>
          <a:stretch/>
        </p:blipFill>
        <p:spPr>
          <a:xfrm>
            <a:off x="6143625" y="2190750"/>
            <a:ext cx="52389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2"/>
          <p:cNvSpPr txBox="1"/>
          <p:nvPr/>
        </p:nvSpPr>
        <p:spPr>
          <a:xfrm>
            <a:off x="571500" y="6477000"/>
            <a:ext cx="11049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L" sz="10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Fuente: Elaboración propia basada en levantamiento de campo - FINet</a:t>
            </a:r>
            <a:endParaRPr sz="1000">
              <a:solidFill>
                <a:srgbClr val="64748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3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CL"/>
              <a:t>Levantamiento de Procesos Inicial (BPMN)</a:t>
            </a:r>
            <a:endParaRPr/>
          </a:p>
        </p:txBody>
      </p:sp>
      <p:pic>
        <p:nvPicPr>
          <p:cNvPr id="515" name="Google Shape;515;p13" title="Bizagi foto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2125" y="1455025"/>
            <a:ext cx="7218676" cy="22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3" title="Bizagi foto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2125" y="3794252"/>
            <a:ext cx="7218677" cy="291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4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4" name="Google Shape;524;p14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CL"/>
              <a:t>Objetivo General y Objetivos Específicos seleccionados</a:t>
            </a:r>
            <a:endParaRPr/>
          </a:p>
        </p:txBody>
      </p:sp>
      <p:grpSp>
        <p:nvGrpSpPr>
          <p:cNvPr id="525" name="Google Shape;525;p14"/>
          <p:cNvGrpSpPr/>
          <p:nvPr/>
        </p:nvGrpSpPr>
        <p:grpSpPr>
          <a:xfrm>
            <a:off x="600075" y="1428750"/>
            <a:ext cx="10992000" cy="5143500"/>
            <a:chOff x="600075" y="1428750"/>
            <a:chExt cx="10992000" cy="5143500"/>
          </a:xfrm>
        </p:grpSpPr>
        <p:sp>
          <p:nvSpPr>
            <p:cNvPr id="526" name="Google Shape;526;p14"/>
            <p:cNvSpPr/>
            <p:nvPr/>
          </p:nvSpPr>
          <p:spPr>
            <a:xfrm>
              <a:off x="600075" y="1428750"/>
              <a:ext cx="10992000" cy="952500"/>
            </a:xfrm>
            <a:prstGeom prst="roundRect">
              <a:avLst>
                <a:gd fmla="val 1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4"/>
            <p:cNvSpPr txBox="1"/>
            <p:nvPr/>
          </p:nvSpPr>
          <p:spPr>
            <a:xfrm>
              <a:off x="790575" y="1524000"/>
              <a:ext cx="1061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CL" sz="1400" u="none" cap="none" strike="noStrike">
                  <a:solidFill>
                    <a:srgbClr val="B91C1C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Objetivo General</a:t>
              </a:r>
              <a:endParaRPr b="1" i="0" sz="1400" u="none" cap="none" strike="noStrike">
                <a:solidFill>
                  <a:srgbClr val="B91C1C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CL" sz="1100" u="none" cap="none" strike="noStrike">
                  <a:solidFill>
                    <a:srgbClr val="1F2937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Desarrollar un sistema de gestión de instalaciones y monitoreo técnico para FiNet, que centralice y digitalice la operación de órdenes de trabajo, el monitoreo de red y el control de inventario de materiales y equipos.</a:t>
              </a:r>
              <a:endParaRPr b="0" i="0" sz="1100" u="none" cap="none" strike="noStrike">
                <a:solidFill>
                  <a:srgbClr val="1F2937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28" name="Google Shape;528;p14"/>
            <p:cNvSpPr/>
            <p:nvPr/>
          </p:nvSpPr>
          <p:spPr>
            <a:xfrm>
              <a:off x="600075" y="2571750"/>
              <a:ext cx="5400600" cy="4000500"/>
            </a:xfrm>
            <a:prstGeom prst="roundRect">
              <a:avLst>
                <a:gd fmla="val 238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4"/>
            <p:cNvSpPr txBox="1"/>
            <p:nvPr/>
          </p:nvSpPr>
          <p:spPr>
            <a:xfrm>
              <a:off x="790575" y="2667000"/>
              <a:ext cx="50196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CL" sz="1400" u="none" cap="none" strike="noStrike">
                  <a:solidFill>
                    <a:srgbClr val="4B556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Objetivos Específicos (1-7)</a:t>
              </a:r>
              <a:endParaRPr b="1" i="0" sz="1400" u="none" cap="none" strike="noStrik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OE1.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Elaborar el contexto, análisis interno y externo de la organización, con el propósito de establecer su funcionamiento y contexto.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OE2.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Generar el levantamiento de procesos iniciales con el objetivo de determinar el funcionamiento de la organización.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OE3.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Analizar cuantitativamente los procesos con el fin de determinar el funcionamiento de la organización.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OE4.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Interpretar cualitativamente los datos, orientando el análisis a explicar las problemáticas causales de la organización.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OE5.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Definir los requisitos del sistema para satisfacer las necesidades de la organización.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OE6.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Determinar requerimientos funcionales y no funcionales del sistema, en busca de que respondan a las necesidades de la organización.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OE7.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Planear los requerimientos de usuario con la intención de representar las necesidades y expectativas de los distintos perfiles de usuario del sistema.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30" name="Google Shape;530;p14"/>
            <p:cNvSpPr/>
            <p:nvPr/>
          </p:nvSpPr>
          <p:spPr>
            <a:xfrm>
              <a:off x="6191250" y="2571750"/>
              <a:ext cx="5400600" cy="4000500"/>
            </a:xfrm>
            <a:prstGeom prst="roundRect">
              <a:avLst>
                <a:gd fmla="val 238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4"/>
            <p:cNvSpPr txBox="1"/>
            <p:nvPr/>
          </p:nvSpPr>
          <p:spPr>
            <a:xfrm>
              <a:off x="6381750" y="2667000"/>
              <a:ext cx="50196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CL" sz="1400" u="none" cap="none" strike="noStrike">
                  <a:solidFill>
                    <a:srgbClr val="4B556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Objetivos Específicos (8-14)</a:t>
              </a:r>
              <a:endParaRPr b="1" i="0" sz="1400" u="none" cap="none" strike="noStrik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OE8.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Documentar los casos de uso extendido para representar las interacciones entre el usuario y el sistema.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OE9.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Diseñar la solución, basado en la metodología SCRUM++, con la finalidad de asegurar la trazabilidad de la solución.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OE10.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Desarrollar el sistema con miras a satisfacer las necesidades de la organización.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OE11.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Verificar el sistema bajo el criterio de demostrar la trazabilidad basada en ISO 25001.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OE12.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Validar el sistema con el propósito de demostrar la conformidad y aceptación de la organización.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OE13.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Establecer la evaluación de costos y beneficios permitiendo así determinar el aporte de la solución.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CL" sz="10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OE14.</a:t>
              </a:r>
              <a:r>
                <a:rPr b="0" i="0" lang="en-CL" sz="1000" u="none" cap="none" strike="noStrike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Construir el levantamiento de procesos final logrando con ello demostrar el valor de la solución.</a:t>
              </a:r>
              <a:endParaRPr b="0" i="0" sz="1000" u="none" cap="none" strike="noStrike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5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0" name="Google Shape;540;p15"/>
          <p:cNvSpPr txBox="1"/>
          <p:nvPr>
            <p:ph type="title"/>
          </p:nvPr>
        </p:nvSpPr>
        <p:spPr>
          <a:xfrm>
            <a:off x="604838" y="190500"/>
            <a:ext cx="109824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L" sz="3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Requerimientos Funcionales Claves</a:t>
            </a:r>
            <a:endParaRPr b="1" sz="36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41" name="Google Shape;541;p15"/>
          <p:cNvGrpSpPr/>
          <p:nvPr/>
        </p:nvGrpSpPr>
        <p:grpSpPr>
          <a:xfrm>
            <a:off x="604838" y="1714500"/>
            <a:ext cx="10982400" cy="1905000"/>
            <a:chOff x="604838" y="1714500"/>
            <a:chExt cx="10982400" cy="1905000"/>
          </a:xfrm>
        </p:grpSpPr>
        <p:sp>
          <p:nvSpPr>
            <p:cNvPr id="542" name="Google Shape;542;p15"/>
            <p:cNvSpPr/>
            <p:nvPr/>
          </p:nvSpPr>
          <p:spPr>
            <a:xfrm>
              <a:off x="604838" y="1714500"/>
              <a:ext cx="109824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890588" y="2000250"/>
              <a:ext cx="1143000" cy="3810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5"/>
            <p:cNvSpPr txBox="1"/>
            <p:nvPr/>
          </p:nvSpPr>
          <p:spPr>
            <a:xfrm>
              <a:off x="890588" y="2000250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L" sz="1400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RF-01</a:t>
              </a:r>
              <a:endParaRPr b="1" sz="1400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45" name="Google Shape;545;p15"/>
            <p:cNvSpPr txBox="1"/>
            <p:nvPr/>
          </p:nvSpPr>
          <p:spPr>
            <a:xfrm>
              <a:off x="890588" y="2476500"/>
              <a:ext cx="10410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L" sz="1600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Crear OT de tipo </a:t>
              </a:r>
              <a:r>
                <a:rPr b="1" lang="en-CL" sz="1600">
                  <a:solidFill>
                    <a:srgbClr val="1F2937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INSTALACIÓN, REPARACIÓN, REEMPLAZO, PREVENTIVO o BAJA</a:t>
              </a:r>
              <a:r>
                <a:rPr lang="en-CL" sz="1600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, vinculada a RUT de cliente validado con algoritmo Módulo 11</a:t>
              </a:r>
              <a:endParaRPr sz="1600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546" name="Google Shape;546;p15"/>
          <p:cNvGrpSpPr/>
          <p:nvPr/>
        </p:nvGrpSpPr>
        <p:grpSpPr>
          <a:xfrm>
            <a:off x="604838" y="3810000"/>
            <a:ext cx="10982400" cy="1905000"/>
            <a:chOff x="604838" y="3810000"/>
            <a:chExt cx="10982400" cy="1905000"/>
          </a:xfrm>
        </p:grpSpPr>
        <p:sp>
          <p:nvSpPr>
            <p:cNvPr id="547" name="Google Shape;547;p15"/>
            <p:cNvSpPr/>
            <p:nvPr/>
          </p:nvSpPr>
          <p:spPr>
            <a:xfrm>
              <a:off x="604838" y="3810000"/>
              <a:ext cx="109824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890588" y="4095750"/>
              <a:ext cx="1143000" cy="3810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5"/>
            <p:cNvSpPr txBox="1"/>
            <p:nvPr/>
          </p:nvSpPr>
          <p:spPr>
            <a:xfrm>
              <a:off x="890588" y="4095750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CL" sz="1400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RF-22</a:t>
              </a:r>
              <a:endParaRPr b="1" sz="1400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50" name="Google Shape;550;p15"/>
            <p:cNvSpPr txBox="1"/>
            <p:nvPr/>
          </p:nvSpPr>
          <p:spPr>
            <a:xfrm>
              <a:off x="890588" y="4572000"/>
              <a:ext cx="10410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L" sz="1600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Al cierre de OT, el sistema </a:t>
              </a:r>
              <a:r>
                <a:rPr b="1" lang="en-CL" sz="1600">
                  <a:solidFill>
                    <a:srgbClr val="1F2937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descuenta automáticamente</a:t>
              </a:r>
              <a:r>
                <a:rPr lang="en-CL" sz="1600">
                  <a:solidFill>
                    <a:srgbClr val="37415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del inventario las cantidades declaradas desde el catálogo de materiales</a:t>
              </a:r>
              <a:endParaRPr sz="1600">
                <a:solidFill>
                  <a:srgbClr val="37415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551" name="Google Shape;551;p15"/>
          <p:cNvSpPr/>
          <p:nvPr/>
        </p:nvSpPr>
        <p:spPr>
          <a:xfrm>
            <a:off x="604838" y="6286500"/>
            <a:ext cx="10982400" cy="38100"/>
          </a:xfrm>
          <a:prstGeom prst="rect">
            <a:avLst/>
          </a:prstGeom>
          <a:solidFill>
            <a:srgbClr val="D24726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6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CL"/>
              <a:t>Casos de uso extendido vinculados a esos RF</a:t>
            </a:r>
            <a:endParaRPr/>
          </a:p>
        </p:txBody>
      </p:sp>
      <p:pic>
        <p:nvPicPr>
          <p:cNvPr id="558" name="Google Shape;5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500" y="1607175"/>
            <a:ext cx="4630900" cy="47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0044" y="1607175"/>
            <a:ext cx="5186556" cy="47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9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6" name="Google Shape;566;p19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7" name="Google Shape;567;p19"/>
          <p:cNvSpPr txBox="1"/>
          <p:nvPr>
            <p:ph type="title"/>
          </p:nvPr>
        </p:nvSpPr>
        <p:spPr>
          <a:xfrm>
            <a:off x="607600" y="0"/>
            <a:ext cx="10976700" cy="133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-CL" sz="3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Diagramas de casos de Uso: Jefe Técnico y Técnico Interno</a:t>
            </a:r>
            <a:endParaRPr b="0" sz="36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571500" y="1619250"/>
            <a:ext cx="11049000" cy="4953000"/>
          </a:xfrm>
          <a:prstGeom prst="roundRect">
            <a:avLst>
              <a:gd fmla="val 19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9"/>
          <p:cNvSpPr/>
          <p:nvPr/>
        </p:nvSpPr>
        <p:spPr>
          <a:xfrm>
            <a:off x="672525" y="1619250"/>
            <a:ext cx="11049000" cy="4953000"/>
          </a:xfrm>
          <a:prstGeom prst="roundRect">
            <a:avLst>
              <a:gd fmla="val 1923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19"/>
          <p:cNvPicPr preferRelativeResize="0"/>
          <p:nvPr/>
        </p:nvPicPr>
        <p:blipFill rotWithShape="1">
          <a:blip r:embed="rId3">
            <a:alphaModFix/>
          </a:blip>
          <a:srcRect b="31269" l="0" r="0" t="31265"/>
          <a:stretch/>
        </p:blipFill>
        <p:spPr>
          <a:xfrm>
            <a:off x="952500" y="1809750"/>
            <a:ext cx="4953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19"/>
          <p:cNvPicPr preferRelativeResize="0"/>
          <p:nvPr/>
        </p:nvPicPr>
        <p:blipFill rotWithShape="1">
          <a:blip r:embed="rId4">
            <a:alphaModFix/>
          </a:blip>
          <a:srcRect b="0" l="14579" r="14579" t="0"/>
          <a:stretch/>
        </p:blipFill>
        <p:spPr>
          <a:xfrm>
            <a:off x="6477000" y="1809750"/>
            <a:ext cx="4572000" cy="4572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72" name="Google Shape;572;p19"/>
          <p:cNvSpPr txBox="1"/>
          <p:nvPr/>
        </p:nvSpPr>
        <p:spPr>
          <a:xfrm>
            <a:off x="3362625" y="13329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Rol: Jefe Técnico</a:t>
            </a:r>
            <a:endParaRPr b="1" i="0" sz="1600" u="none" cap="none" strike="noStrike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0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0"/>
          <p:cNvSpPr txBox="1"/>
          <p:nvPr>
            <p:ph type="title"/>
          </p:nvPr>
        </p:nvSpPr>
        <p:spPr>
          <a:xfrm>
            <a:off x="609600" y="0"/>
            <a:ext cx="109767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-CL" sz="3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Diagrama de Casos de Uso: Técnico Interno</a:t>
            </a:r>
            <a:endParaRPr b="0" sz="36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571500" y="1619250"/>
            <a:ext cx="11049000" cy="4953000"/>
          </a:xfrm>
          <a:prstGeom prst="roundRect">
            <a:avLst>
              <a:gd fmla="val 1923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 txBox="1"/>
          <p:nvPr/>
        </p:nvSpPr>
        <p:spPr>
          <a:xfrm>
            <a:off x="3619500" y="13335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CL" sz="16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Rol: Técnico Interno</a:t>
            </a:r>
            <a:endParaRPr b="1" i="0" sz="1600" u="none" cap="none" strike="noStrike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82" name="Google Shape;582;p20"/>
          <p:cNvPicPr preferRelativeResize="0"/>
          <p:nvPr/>
        </p:nvPicPr>
        <p:blipFill rotWithShape="1">
          <a:blip r:embed="rId4">
            <a:alphaModFix/>
          </a:blip>
          <a:srcRect b="1607" l="0" r="0" t="1597"/>
          <a:stretch/>
        </p:blipFill>
        <p:spPr>
          <a:xfrm>
            <a:off x="2762250" y="1809750"/>
            <a:ext cx="66675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1"/>
          <p:cNvSpPr txBox="1"/>
          <p:nvPr>
            <p:ph type="title"/>
          </p:nvPr>
        </p:nvSpPr>
        <p:spPr>
          <a:xfrm>
            <a:off x="609600" y="95250"/>
            <a:ext cx="107442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0" lang="en-CL" sz="3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Matriz de requerimientos vs Casos de Uso</a:t>
            </a:r>
            <a:endParaRPr b="0" sz="32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476250" y="1428750"/>
            <a:ext cx="11239500" cy="5143500"/>
          </a:xfrm>
          <a:prstGeom prst="roundRect">
            <a:avLst>
              <a:gd fmla="val 1851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21"/>
          <p:cNvPicPr preferRelativeResize="0"/>
          <p:nvPr/>
        </p:nvPicPr>
        <p:blipFill rotWithShape="1">
          <a:blip r:embed="rId4">
            <a:alphaModFix/>
          </a:blip>
          <a:srcRect b="0" l="3228" r="3218" t="0"/>
          <a:stretch/>
        </p:blipFill>
        <p:spPr>
          <a:xfrm>
            <a:off x="666750" y="1619250"/>
            <a:ext cx="10858500" cy="476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2" name="Google Shape;592;p21"/>
          <p:cNvGrpSpPr/>
          <p:nvPr/>
        </p:nvGrpSpPr>
        <p:grpSpPr>
          <a:xfrm>
            <a:off x="476250" y="1190625"/>
            <a:ext cx="3810000" cy="190500"/>
            <a:chOff x="476250" y="1190625"/>
            <a:chExt cx="3810000" cy="190500"/>
          </a:xfrm>
        </p:grpSpPr>
        <p:sp>
          <p:nvSpPr>
            <p:cNvPr id="593" name="Google Shape;593;p21"/>
            <p:cNvSpPr/>
            <p:nvPr/>
          </p:nvSpPr>
          <p:spPr>
            <a:xfrm>
              <a:off x="476250" y="1190625"/>
              <a:ext cx="1905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1"/>
            <p:cNvSpPr txBox="1"/>
            <p:nvPr/>
          </p:nvSpPr>
          <p:spPr>
            <a:xfrm>
              <a:off x="476250" y="119062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75"/>
                <a:buFont typeface="Arial"/>
                <a:buNone/>
              </a:pPr>
              <a:r>
                <a:rPr b="0" i="0" lang="en-CL" sz="775" u="none" cap="none" strike="noStrike">
                  <a:solidFill>
                    <a:srgbClr val="7F7F7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Visualización de trazabilidad entre requisitos de negocio y funcionalidades del sistema.</a:t>
              </a:r>
              <a:endParaRPr b="0" i="0" sz="775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2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CL"/>
              <a:t>Planificación</a:t>
            </a:r>
            <a:endParaRPr/>
          </a:p>
        </p:txBody>
      </p:sp>
      <p:pic>
        <p:nvPicPr>
          <p:cNvPr id="601" name="Google Shape;6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5950" y="1596125"/>
            <a:ext cx="7966251" cy="526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5"/>
          <p:cNvSpPr txBox="1"/>
          <p:nvPr>
            <p:ph type="title"/>
          </p:nvPr>
        </p:nvSpPr>
        <p:spPr>
          <a:xfrm>
            <a:off x="604434" y="95250"/>
            <a:ext cx="107493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CL" sz="3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Estimación de costo y beneficio</a:t>
            </a:r>
            <a:endParaRPr b="1" sz="32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09" name="Google Shape;609;p25"/>
          <p:cNvGrpSpPr/>
          <p:nvPr/>
        </p:nvGrpSpPr>
        <p:grpSpPr>
          <a:xfrm>
            <a:off x="381000" y="4286250"/>
            <a:ext cx="11430000" cy="2190900"/>
            <a:chOff x="381000" y="4286250"/>
            <a:chExt cx="11430000" cy="2190900"/>
          </a:xfrm>
        </p:grpSpPr>
        <p:sp>
          <p:nvSpPr>
            <p:cNvPr id="610" name="Google Shape;610;p25"/>
            <p:cNvSpPr/>
            <p:nvPr/>
          </p:nvSpPr>
          <p:spPr>
            <a:xfrm>
              <a:off x="381000" y="4286250"/>
              <a:ext cx="11430000" cy="2190900"/>
            </a:xfrm>
            <a:prstGeom prst="roundRect">
              <a:avLst>
                <a:gd fmla="val 652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5"/>
            <p:cNvSpPr txBox="1"/>
            <p:nvPr/>
          </p:nvSpPr>
          <p:spPr>
            <a:xfrm>
              <a:off x="571500" y="4429125"/>
              <a:ext cx="1104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CL" sz="1600" u="none" cap="none" strike="noStrike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Indicadores Financieros Proyectados</a:t>
              </a:r>
              <a:endParaRPr b="1" i="0" sz="16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612" name="Google Shape;612;p25"/>
            <p:cNvGrpSpPr/>
            <p:nvPr/>
          </p:nvGrpSpPr>
          <p:grpSpPr>
            <a:xfrm>
              <a:off x="571500" y="4810125"/>
              <a:ext cx="2571900" cy="1428900"/>
              <a:chOff x="571500" y="4810125"/>
              <a:chExt cx="2571900" cy="1428900"/>
            </a:xfrm>
          </p:grpSpPr>
          <p:sp>
            <p:nvSpPr>
              <p:cNvPr id="613" name="Google Shape;613;p25"/>
              <p:cNvSpPr/>
              <p:nvPr/>
            </p:nvSpPr>
            <p:spPr>
              <a:xfrm>
                <a:off x="571500" y="4810125"/>
                <a:ext cx="2571900" cy="1428900"/>
              </a:xfrm>
              <a:prstGeom prst="roundRect">
                <a:avLst>
                  <a:gd fmla="val 6666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25"/>
              <p:cNvSpPr txBox="1"/>
              <p:nvPr/>
            </p:nvSpPr>
            <p:spPr>
              <a:xfrm>
                <a:off x="714375" y="4905375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CL" sz="1000" u="none" cap="none" strike="noStrike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VAN (10% anual, 12 meses)</a:t>
                </a:r>
                <a:endParaRPr b="0" i="0" sz="1000" u="none" cap="none" strike="noStrike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CL" sz="2400" u="none" cap="none" strike="noStrike">
                    <a:solidFill>
                      <a:srgbClr val="D24726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$965.689</a:t>
                </a:r>
                <a:endParaRPr b="1" i="0" sz="2400" u="none" cap="none" strike="noStrike">
                  <a:solidFill>
                    <a:srgbClr val="D2472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CL" sz="900" u="none" cap="none" strike="noStrike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(Si VAN &gt; 0 el proyecto genera valor)</a:t>
                </a:r>
                <a:endParaRPr b="0" i="0" sz="900" u="none" cap="none" strike="noStrike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615" name="Google Shape;615;p25"/>
            <p:cNvGrpSpPr/>
            <p:nvPr/>
          </p:nvGrpSpPr>
          <p:grpSpPr>
            <a:xfrm>
              <a:off x="3333750" y="4810125"/>
              <a:ext cx="2571900" cy="1428900"/>
              <a:chOff x="3333750" y="4810125"/>
              <a:chExt cx="2571900" cy="1428900"/>
            </a:xfrm>
          </p:grpSpPr>
          <p:sp>
            <p:nvSpPr>
              <p:cNvPr id="616" name="Google Shape;616;p25"/>
              <p:cNvSpPr/>
              <p:nvPr/>
            </p:nvSpPr>
            <p:spPr>
              <a:xfrm>
                <a:off x="3333750" y="4810125"/>
                <a:ext cx="2571900" cy="1428900"/>
              </a:xfrm>
              <a:prstGeom prst="roundRect">
                <a:avLst>
                  <a:gd fmla="val 6666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25"/>
              <p:cNvSpPr txBox="1"/>
              <p:nvPr/>
            </p:nvSpPr>
            <p:spPr>
              <a:xfrm>
                <a:off x="3476625" y="4905375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CL" sz="1000" u="none" cap="none" strike="noStrike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TIR anual / mensual</a:t>
                </a:r>
                <a:endParaRPr b="0" i="0" sz="1000" u="none" cap="none" strike="noStrike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CL" sz="2400" u="none" cap="none" strike="noStrike">
                    <a:solidFill>
                      <a:srgbClr val="1E293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18,2% / 1,4%</a:t>
                </a:r>
                <a:endParaRPr b="1" i="0" sz="2400" u="none" cap="none" strike="noStrike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CL" sz="900" u="none" cap="none" strike="noStrike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Rentabilidad interna mensualizada</a:t>
                </a:r>
                <a:endParaRPr b="0" i="0" sz="900" u="none" cap="none" strike="noStrike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618" name="Google Shape;618;p25"/>
            <p:cNvGrpSpPr/>
            <p:nvPr/>
          </p:nvGrpSpPr>
          <p:grpSpPr>
            <a:xfrm>
              <a:off x="6096000" y="4810125"/>
              <a:ext cx="2571900" cy="1428900"/>
              <a:chOff x="6096000" y="4810125"/>
              <a:chExt cx="2571900" cy="1428900"/>
            </a:xfrm>
          </p:grpSpPr>
          <p:sp>
            <p:nvSpPr>
              <p:cNvPr id="619" name="Google Shape;619;p25"/>
              <p:cNvSpPr/>
              <p:nvPr/>
            </p:nvSpPr>
            <p:spPr>
              <a:xfrm>
                <a:off x="6096000" y="4810125"/>
                <a:ext cx="2571900" cy="1428900"/>
              </a:xfrm>
              <a:prstGeom prst="roundRect">
                <a:avLst>
                  <a:gd fmla="val 6666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25"/>
              <p:cNvSpPr txBox="1"/>
              <p:nvPr/>
            </p:nvSpPr>
            <p:spPr>
              <a:xfrm>
                <a:off x="6238875" y="4905375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CL" sz="1000" u="none" cap="none" strike="noStrike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ROI anual de operación</a:t>
                </a:r>
                <a:endParaRPr b="0" i="0" sz="1000" u="none" cap="none" strike="noStrike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CL" sz="2400" u="none" cap="none" strike="noStrike">
                    <a:solidFill>
                      <a:srgbClr val="1E293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110,8%</a:t>
                </a:r>
                <a:endParaRPr b="1" i="0" sz="2400" u="none" cap="none" strike="noStrike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CL" sz="900" u="none" cap="none" strike="noStrike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Ganancia neta anual / Inversión total</a:t>
                </a:r>
                <a:endParaRPr b="0" i="0" sz="900" u="none" cap="none" strike="noStrike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621" name="Google Shape;621;p25"/>
            <p:cNvGrpSpPr/>
            <p:nvPr/>
          </p:nvGrpSpPr>
          <p:grpSpPr>
            <a:xfrm>
              <a:off x="8858250" y="4810125"/>
              <a:ext cx="2571900" cy="1428900"/>
              <a:chOff x="8858250" y="4810125"/>
              <a:chExt cx="2571900" cy="1428900"/>
            </a:xfrm>
          </p:grpSpPr>
          <p:sp>
            <p:nvSpPr>
              <p:cNvPr id="622" name="Google Shape;622;p25"/>
              <p:cNvSpPr/>
              <p:nvPr/>
            </p:nvSpPr>
            <p:spPr>
              <a:xfrm>
                <a:off x="8858250" y="4810125"/>
                <a:ext cx="2571900" cy="1428900"/>
              </a:xfrm>
              <a:prstGeom prst="roundRect">
                <a:avLst>
                  <a:gd fmla="val 6666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25"/>
              <p:cNvSpPr txBox="1"/>
              <p:nvPr/>
            </p:nvSpPr>
            <p:spPr>
              <a:xfrm>
                <a:off x="9001125" y="4905375"/>
                <a:ext cx="2286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CL" sz="1000" u="none" cap="none" strike="noStrike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Payback (meses)</a:t>
                </a:r>
                <a:endParaRPr b="0" i="0" sz="1000" u="none" cap="none" strike="noStrike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CL" sz="2400" u="none" cap="none" strike="noStrike">
                    <a:solidFill>
                      <a:srgbClr val="1E293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10,8 meses</a:t>
                </a:r>
                <a:endParaRPr b="1" i="0" sz="2400" u="none" cap="none" strike="noStrike">
                  <a:solidFill>
                    <a:srgbClr val="1E293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-CL" sz="900" u="none" cap="none" strike="noStrike">
                    <a:solidFill>
                      <a:srgbClr val="64748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Tiempo para recuperar la inversión</a:t>
                </a:r>
                <a:endParaRPr b="0" i="0" sz="900" u="none" cap="none" strike="noStrike">
                  <a:solidFill>
                    <a:srgbClr val="64748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pic>
        <p:nvPicPr>
          <p:cNvPr id="624" name="Google Shape;6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295400"/>
            <a:ext cx="10506264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6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1" name="Google Shape;631;p26"/>
          <p:cNvSpPr/>
          <p:nvPr/>
        </p:nvSpPr>
        <p:spPr>
          <a:xfrm>
            <a:off x="0" y="0"/>
            <a:ext cx="12192000" cy="13329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2" name="Google Shape;632;p26"/>
          <p:cNvSpPr txBox="1"/>
          <p:nvPr>
            <p:ph type="title"/>
          </p:nvPr>
        </p:nvSpPr>
        <p:spPr>
          <a:xfrm>
            <a:off x="604434" y="0"/>
            <a:ext cx="10749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CL"/>
              <a:t>Dimensión Técnica: Arquitectura y Capas</a:t>
            </a:r>
            <a:endParaRPr/>
          </a:p>
        </p:txBody>
      </p:sp>
      <p:sp>
        <p:nvSpPr>
          <p:cNvPr id="633" name="Google Shape;633;p26"/>
          <p:cNvSpPr/>
          <p:nvPr/>
        </p:nvSpPr>
        <p:spPr>
          <a:xfrm>
            <a:off x="476250" y="1714500"/>
            <a:ext cx="3048000" cy="4572000"/>
          </a:xfrm>
          <a:prstGeom prst="roundRect">
            <a:avLst>
              <a:gd fmla="val 4687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6"/>
          <p:cNvSpPr/>
          <p:nvPr/>
        </p:nvSpPr>
        <p:spPr>
          <a:xfrm>
            <a:off x="4572000" y="1714500"/>
            <a:ext cx="3048000" cy="4572000"/>
          </a:xfrm>
          <a:prstGeom prst="roundRect">
            <a:avLst>
              <a:gd fmla="val 4687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8667750" y="1714500"/>
            <a:ext cx="3048000" cy="4572000"/>
          </a:xfrm>
          <a:prstGeom prst="roundRect">
            <a:avLst>
              <a:gd fmla="val 4687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6"/>
          <p:cNvSpPr txBox="1"/>
          <p:nvPr/>
        </p:nvSpPr>
        <p:spPr>
          <a:xfrm>
            <a:off x="666750" y="1905000"/>
            <a:ext cx="26670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L" sz="18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VISTA (Frontend)</a:t>
            </a:r>
            <a:endParaRPr b="1" i="0" sz="1800" u="none" cap="none" strike="noStrike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L" sz="12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Tecnologías:</a:t>
            </a:r>
            <a:endParaRPr b="1" i="0" sz="12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Quattrocento Sans"/>
              <a:buChar char="●"/>
            </a:pPr>
            <a:r>
              <a:rPr b="0" i="0" lang="en-CL" sz="11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SvelteKit + TypeScript</a:t>
            </a:r>
            <a:endParaRPr b="0" i="0" sz="1100" u="none" cap="none" strike="noStrike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Quattrocento Sans"/>
              <a:buChar char="●"/>
            </a:pPr>
            <a:r>
              <a:rPr b="0" i="0" lang="en-CL" sz="11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Tailwind CSS + Responsive Design</a:t>
            </a:r>
            <a:endParaRPr b="0" i="0" sz="1100" u="none" cap="none" strike="noStrike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L" sz="12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Responsabilidad:</a:t>
            </a:r>
            <a:endParaRPr b="1" i="0" sz="12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CL" sz="11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Interfaz de usuario para navegación web y dispositivos móviles (Navegador web / Celular técnico).</a:t>
            </a:r>
            <a:endParaRPr b="0" i="0" sz="1100" u="none" cap="none" strike="noStrike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7" name="Google Shape;637;p26"/>
          <p:cNvSpPr txBox="1"/>
          <p:nvPr/>
        </p:nvSpPr>
        <p:spPr>
          <a:xfrm>
            <a:off x="4762500" y="1905000"/>
            <a:ext cx="26670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L" sz="18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CONTROLADORES</a:t>
            </a:r>
            <a:endParaRPr b="1" i="0" sz="1800" u="none" cap="none" strike="noStrike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L" sz="12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Lógica de Negocio:</a:t>
            </a:r>
            <a:endParaRPr b="1" i="0" sz="12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Quattrocento Sans"/>
              <a:buChar char="●"/>
            </a:pPr>
            <a:r>
              <a:rPr b="0" i="0" lang="en-CL" sz="11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NestJS + TypeScript</a:t>
            </a:r>
            <a:endParaRPr b="0" i="0" sz="1100" u="none" cap="none" strike="noStrike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Quattrocento Sans"/>
              <a:buChar char="●"/>
            </a:pPr>
            <a:r>
              <a:rPr b="0" i="0" lang="en-CL" sz="11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Prisma ORM (Gestión BD)</a:t>
            </a:r>
            <a:endParaRPr b="0" i="0" sz="1100" u="none" cap="none" strike="noStrike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Quattrocento Sans"/>
              <a:buChar char="●"/>
            </a:pPr>
            <a:r>
              <a:rPr b="0" i="0" lang="en-CL" sz="11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Socket.io (WebSockets)</a:t>
            </a:r>
            <a:endParaRPr b="0" i="0" sz="1100" u="none" cap="none" strike="noStrike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L" sz="12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Comunicación:</a:t>
            </a:r>
            <a:endParaRPr b="1" i="0" sz="12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CL" sz="11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Manejo de Peticiones HTTP y conexiones en tiempo real vía WebSockets para lógica modular.</a:t>
            </a:r>
            <a:endParaRPr b="0" i="0" sz="1100" u="none" cap="none" strike="noStrike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8" name="Google Shape;638;p26"/>
          <p:cNvSpPr txBox="1"/>
          <p:nvPr/>
        </p:nvSpPr>
        <p:spPr>
          <a:xfrm>
            <a:off x="8858250" y="1905000"/>
            <a:ext cx="26670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CL" sz="1800" u="none" cap="none" strike="noStrike">
                <a:solidFill>
                  <a:srgbClr val="D247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DE DATOS</a:t>
            </a:r>
            <a:endParaRPr b="1" i="0" sz="1800" u="none" cap="none" strike="noStrike">
              <a:solidFill>
                <a:srgbClr val="D247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L" sz="12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Almacenamiento:</a:t>
            </a:r>
            <a:endParaRPr b="1" i="0" sz="12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Quattrocento Sans"/>
              <a:buChar char="●"/>
            </a:pPr>
            <a:r>
              <a:rPr b="0" i="0" lang="en-CL" sz="11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PostgreSQL (Railway)</a:t>
            </a:r>
            <a:endParaRPr b="0" i="0" sz="1100" u="none" cap="none" strike="noStrike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Quattrocento Sans"/>
              <a:buChar char="●"/>
            </a:pPr>
            <a:r>
              <a:rPr b="0" i="0" lang="en-CL" sz="11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Cloudinary (Imágenes OT)</a:t>
            </a:r>
            <a:endParaRPr b="0" i="0" sz="1100" u="none" cap="none" strike="noStrike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CL" sz="1200" u="none" cap="none" strike="noStrik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Tipo de Datos:</a:t>
            </a:r>
            <a:endParaRPr b="1" i="0" sz="1200" u="none" cap="none" strike="noStrik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CL" sz="11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Persistencia de datos transaccionales y archivos multimedia optimizados.</a:t>
            </a:r>
            <a:endParaRPr b="0" i="0" sz="1100" u="none" cap="none" strike="noStrike">
              <a:solidFill>
                <a:srgbClr val="33333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39" name="Google Shape;6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250" y="3933825"/>
            <a:ext cx="1143000" cy="1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0" y="3933825"/>
            <a:ext cx="1143000" cy="1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lcomeDo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elcomeDo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