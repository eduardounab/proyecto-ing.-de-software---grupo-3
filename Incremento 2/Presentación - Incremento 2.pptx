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TC Avant Garde Gothic" panose="020B0604020202020204" charset="0"/>
      <p:regular r:id="rId10"/>
    </p:embeddedFont>
    <p:embeddedFont>
      <p:font typeface="Open Sans" panose="020B0606030504020204" pitchFamily="34" charset="0"/>
      <p:regular r:id="rId11"/>
    </p:embeddedFont>
    <p:embeddedFont>
      <p:font typeface="TT Fors" panose="020B0604020202020204" charset="0"/>
      <p:regular r:id="rId12"/>
    </p:embeddedFont>
    <p:embeddedFont>
      <p:font typeface="TT For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zepeda" userId="955f52603aed2224" providerId="LiveId" clId="{5348D16A-D635-417E-93AC-03F9D5D76F1A}"/>
    <pc:docChg chg="modSld sldOrd">
      <pc:chgData name="eduardo zepeda" userId="955f52603aed2224" providerId="LiveId" clId="{5348D16A-D635-417E-93AC-03F9D5D76F1A}" dt="2026-09-13T20:18:41.576" v="1"/>
      <pc:docMkLst>
        <pc:docMk/>
      </pc:docMkLst>
      <pc:sldChg chg="ord">
        <pc:chgData name="eduardo zepeda" userId="955f52603aed2224" providerId="LiveId" clId="{5348D16A-D635-417E-93AC-03F9D5D76F1A}" dt="2026-09-13T20:18:41.576" v="1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4471373" y="0"/>
            <a:ext cx="3816627" cy="3210738"/>
          </a:xfrm>
          <a:custGeom>
            <a:avLst/>
            <a:gdLst/>
            <a:ahLst/>
            <a:cxnLst/>
            <a:rect l="l" t="t" r="r" b="b"/>
            <a:pathLst>
              <a:path w="3816627" h="3210738">
                <a:moveTo>
                  <a:pt x="0" y="0"/>
                </a:moveTo>
                <a:lnTo>
                  <a:pt x="3816627" y="0"/>
                </a:lnTo>
                <a:lnTo>
                  <a:pt x="3816627" y="3210738"/>
                </a:lnTo>
                <a:lnTo>
                  <a:pt x="0" y="321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666750" y="666750"/>
            <a:ext cx="9763125" cy="3682999"/>
            <a:chOff x="0" y="0"/>
            <a:chExt cx="13017500" cy="4910666"/>
          </a:xfrm>
        </p:grpSpPr>
        <p:sp>
          <p:nvSpPr>
            <p:cNvPr id="8" name="TextBox 8"/>
            <p:cNvSpPr txBox="1"/>
            <p:nvPr/>
          </p:nvSpPr>
          <p:spPr>
            <a:xfrm>
              <a:off x="0" y="1184275"/>
              <a:ext cx="13017500" cy="3726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Sistema FSM Incremento 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FINET LIMITADA Y CABLE MÁGICO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4891" y="9848215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Grupo 3 Ingeniería de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4891" y="5236202"/>
            <a:ext cx="2564011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Vicente Abarca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Fernando Chávez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Iosef Cornejo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Vicente Diaz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Matias Galvez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Fernando Rojas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Eduardo Zepeda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4890" y="9145249"/>
            <a:ext cx="7910909" cy="90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 err="1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Profesor</a:t>
            </a:r>
            <a:r>
              <a:rPr lang="en-US" sz="2499" dirty="0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: Paulo Luis Francisco </a:t>
            </a:r>
            <a:r>
              <a:rPr lang="en-US" sz="2499" dirty="0" err="1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Quinsacara</a:t>
            </a:r>
            <a:r>
              <a:rPr lang="en-US" sz="2499" dirty="0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Jofré</a:t>
            </a:r>
            <a:endParaRPr lang="en-US" sz="2499" dirty="0">
              <a:solidFill>
                <a:srgbClr val="0D2F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848"/>
              </a:lnSpc>
            </a:pPr>
            <a:r>
              <a:rPr lang="en-US" sz="2749" dirty="0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58" y="4581838"/>
            <a:ext cx="132576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D2F66"/>
                </a:solidFill>
                <a:latin typeface="Open Sans"/>
                <a:ea typeface="Open Sans"/>
                <a:cs typeface="Open Sans"/>
                <a:sym typeface="Open Sans"/>
              </a:rPr>
              <a:t>Autores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4010025" cy="3813810"/>
            <a:chOff x="0" y="0"/>
            <a:chExt cx="5346700" cy="50850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346700" cy="392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Implementamos un sistema de </a:t>
              </a:r>
              <a:r>
                <a:rPr lang="en-US" sz="2100" b="1">
                  <a:solidFill>
                    <a:srgbClr val="0D2F6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monitoreo técnico</a:t>
              </a: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 que permite la supervisión en tiempo real de la red, promoviendo alertas automáticas y facilitando la resolución rápida de problemas técnicos.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Monitoreo técnico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010025" cy="3442335"/>
            <a:chOff x="0" y="0"/>
            <a:chExt cx="5346700" cy="45897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La </a:t>
              </a:r>
              <a:r>
                <a:rPr lang="en-US" sz="2100" b="1">
                  <a:solidFill>
                    <a:srgbClr val="0D2F6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planta externa</a:t>
              </a: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 se ha actualizado con topologías que permiten una visualización clara desde OLT hasta el puerto NAP, asegurando una conectividad robusta y eficiente para los usuarios.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Planta externa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43500"/>
            <a:ext cx="4010025" cy="3899535"/>
            <a:chOff x="0" y="0"/>
            <a:chExt cx="5346700" cy="51993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7653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Se han mejorado las herramientas de </a:t>
              </a:r>
              <a:r>
                <a:rPr lang="en-US" sz="2100" b="1">
                  <a:solidFill>
                    <a:srgbClr val="0D2F6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reportería y notificaciones</a:t>
              </a:r>
              <a:r>
                <a:rPr lang="en-US" sz="2100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, consolidando la información y permitiendo alertas proactivas a los clientes sobre cualquier afectación en el servicio.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Reporteria y Notificaciones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Introducción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0D2F66"/>
                  </a:solidFill>
                  <a:latin typeface="TT Fors"/>
                  <a:ea typeface="TT Fors"/>
                  <a:cs typeface="TT Fors"/>
                  <a:sym typeface="TT Fors"/>
                </a:rPr>
                <a:t>Avances en gestión técnica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32504" y="2447047"/>
            <a:ext cx="8580636" cy="5767313"/>
          </a:xfrm>
          <a:custGeom>
            <a:avLst/>
            <a:gdLst/>
            <a:ahLst/>
            <a:cxnLst/>
            <a:rect l="l" t="t" r="r" b="b"/>
            <a:pathLst>
              <a:path w="8580636" h="5767313">
                <a:moveTo>
                  <a:pt x="0" y="0"/>
                </a:moveTo>
                <a:lnTo>
                  <a:pt x="8580636" y="0"/>
                </a:lnTo>
                <a:lnTo>
                  <a:pt x="8580636" y="5767313"/>
                </a:lnTo>
                <a:lnTo>
                  <a:pt x="0" y="5767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8929550" y="2447047"/>
            <a:ext cx="9016503" cy="5767313"/>
          </a:xfrm>
          <a:custGeom>
            <a:avLst/>
            <a:gdLst/>
            <a:ahLst/>
            <a:cxnLst/>
            <a:rect l="l" t="t" r="r" b="b"/>
            <a:pathLst>
              <a:path w="9016503" h="5767313">
                <a:moveTo>
                  <a:pt x="0" y="0"/>
                </a:moveTo>
                <a:lnTo>
                  <a:pt x="9016503" y="0"/>
                </a:lnTo>
                <a:lnTo>
                  <a:pt x="9016503" y="5767313"/>
                </a:lnTo>
                <a:lnTo>
                  <a:pt x="0" y="576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666750" y="666750"/>
            <a:ext cx="15959942" cy="3080388"/>
            <a:chOff x="0" y="0"/>
            <a:chExt cx="21279923" cy="4107184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21279923" cy="1504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00"/>
                </a:lnSpc>
                <a:spcBef>
                  <a:spcPct val="0"/>
                </a:spcBef>
              </a:pPr>
              <a:r>
                <a:rPr lang="en-US" sz="7400" u="none" strike="noStrike" spc="-222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 54 – Diagrama de secuencia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459484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55462" y="1879601"/>
            <a:ext cx="3703124" cy="7395904"/>
          </a:xfrm>
          <a:custGeom>
            <a:avLst/>
            <a:gdLst/>
            <a:ahLst/>
            <a:cxnLst/>
            <a:rect l="l" t="t" r="r" b="b"/>
            <a:pathLst>
              <a:path w="3703124" h="7395904">
                <a:moveTo>
                  <a:pt x="0" y="0"/>
                </a:moveTo>
                <a:lnTo>
                  <a:pt x="3703124" y="0"/>
                </a:lnTo>
                <a:lnTo>
                  <a:pt x="3703124" y="7395904"/>
                </a:lnTo>
                <a:lnTo>
                  <a:pt x="0" y="73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082506" y="1879601"/>
            <a:ext cx="8927120" cy="7378699"/>
          </a:xfrm>
          <a:custGeom>
            <a:avLst/>
            <a:gdLst/>
            <a:ahLst/>
            <a:cxnLst/>
            <a:rect l="l" t="t" r="r" b="b"/>
            <a:pathLst>
              <a:path w="8927120" h="7378699">
                <a:moveTo>
                  <a:pt x="0" y="0"/>
                </a:moveTo>
                <a:lnTo>
                  <a:pt x="8927121" y="0"/>
                </a:lnTo>
                <a:lnTo>
                  <a:pt x="8927121" y="7378699"/>
                </a:lnTo>
                <a:lnTo>
                  <a:pt x="0" y="7378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93402" y="203027"/>
            <a:ext cx="15516225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0"/>
              </a:lnSpc>
              <a:spcBef>
                <a:spcPct val="0"/>
              </a:spcBef>
            </a:pPr>
            <a:r>
              <a:rPr lang="en-US" sz="5000" spc="-150">
                <a:solidFill>
                  <a:srgbClr val="0D2F6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Caso de Uso N°54: Consultando historial de fallas anteriores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69162" y="222077"/>
            <a:ext cx="2190291" cy="809819"/>
            <a:chOff x="0" y="0"/>
            <a:chExt cx="2920388" cy="10797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514170" y="2657982"/>
            <a:ext cx="8098524" cy="7031173"/>
          </a:xfrm>
          <a:custGeom>
            <a:avLst/>
            <a:gdLst/>
            <a:ahLst/>
            <a:cxnLst/>
            <a:rect l="l" t="t" r="r" b="b"/>
            <a:pathLst>
              <a:path w="8098524" h="7031173">
                <a:moveTo>
                  <a:pt x="0" y="0"/>
                </a:moveTo>
                <a:lnTo>
                  <a:pt x="8098524" y="0"/>
                </a:lnTo>
                <a:lnTo>
                  <a:pt x="8098524" y="7031174"/>
                </a:lnTo>
                <a:lnTo>
                  <a:pt x="0" y="7031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48608" y="605151"/>
            <a:ext cx="15282350" cy="3787818"/>
            <a:chOff x="0" y="0"/>
            <a:chExt cx="20376467" cy="5050423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20376467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 17 – </a:t>
              </a:r>
              <a:r>
                <a:rPr lang="en-US" sz="8000" u="none" strike="noStrike" spc="-240" dirty="0" err="1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Diagrama</a:t>
              </a:r>
              <a:r>
                <a:rPr lang="en-US" sz="8000" u="none" strike="noStrike" spc="-240" dirty="0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de </a:t>
              </a:r>
              <a:r>
                <a:rPr lang="en-US" sz="8000" u="none" strike="noStrike" spc="-240" dirty="0" err="1">
                  <a:solidFill>
                    <a:srgbClr val="0D2F6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secuencia</a:t>
              </a:r>
              <a:endParaRPr lang="en-US" sz="8000" u="none" strike="noStrike" spc="-240" dirty="0">
                <a:solidFill>
                  <a:srgbClr val="0D2F6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6526" y="4402723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84E17CA-768D-D58D-0AA9-3464C0E60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307" y="2645848"/>
            <a:ext cx="7945943" cy="7043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804" y="262705"/>
            <a:ext cx="15516225" cy="20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150">
                <a:solidFill>
                  <a:srgbClr val="0D2F6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Caso de Uso N°17: Detectando falla automática de caja NAP </a:t>
            </a:r>
          </a:p>
          <a:p>
            <a:pPr marL="0" lvl="0" indent="0" algn="l">
              <a:lnSpc>
                <a:spcPts val="5000"/>
              </a:lnSpc>
              <a:spcBef>
                <a:spcPct val="0"/>
              </a:spcBef>
            </a:pPr>
            <a:endParaRPr lang="en-US" sz="5000" spc="-150">
              <a:solidFill>
                <a:srgbClr val="0D2F66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5846754" y="382686"/>
            <a:ext cx="2190291" cy="809819"/>
            <a:chOff x="0" y="0"/>
            <a:chExt cx="2920388" cy="1079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Freeform 7"/>
          <p:cNvSpPr/>
          <p:nvPr/>
        </p:nvSpPr>
        <p:spPr>
          <a:xfrm>
            <a:off x="1997927" y="1591677"/>
            <a:ext cx="13502775" cy="8439234"/>
          </a:xfrm>
          <a:custGeom>
            <a:avLst/>
            <a:gdLst/>
            <a:ahLst/>
            <a:cxnLst/>
            <a:rect l="l" t="t" r="r" b="b"/>
            <a:pathLst>
              <a:path w="13502775" h="8439234">
                <a:moveTo>
                  <a:pt x="0" y="0"/>
                </a:moveTo>
                <a:lnTo>
                  <a:pt x="13502775" y="0"/>
                </a:lnTo>
                <a:lnTo>
                  <a:pt x="13502775" y="8439235"/>
                </a:lnTo>
                <a:lnTo>
                  <a:pt x="0" y="843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7776" y="5098429"/>
            <a:ext cx="15316200" cy="4989501"/>
          </a:xfrm>
          <a:custGeom>
            <a:avLst/>
            <a:gdLst/>
            <a:ahLst/>
            <a:cxnLst/>
            <a:rect l="l" t="t" r="r" b="b"/>
            <a:pathLst>
              <a:path w="14155923" h="4317556">
                <a:moveTo>
                  <a:pt x="0" y="0"/>
                </a:moveTo>
                <a:lnTo>
                  <a:pt x="14155923" y="0"/>
                </a:lnTo>
                <a:lnTo>
                  <a:pt x="14155923" y="4317557"/>
                </a:lnTo>
                <a:lnTo>
                  <a:pt x="0" y="4317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89751" y="199070"/>
            <a:ext cx="9643378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D2F6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Árbol de navegación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9751" y="2392996"/>
            <a:ext cx="16910191" cy="2591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El árbol de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navegación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actualizado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presenta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una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b="1" dirty="0" err="1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estructura</a:t>
            </a:r>
            <a:r>
              <a:rPr lang="en-US" sz="2100" b="1" dirty="0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100" b="1" dirty="0" err="1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clara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y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organizada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: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dirty="0" err="1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Raíz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: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Inicio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de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sesión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(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ruta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pública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dirty="0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Principal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: Layout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protegido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por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guardián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de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autenticación</a:t>
            </a:r>
            <a:endParaRPr lang="en-US" sz="2100" dirty="0">
              <a:solidFill>
                <a:srgbClr val="0D2F66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dirty="0">
                <a:solidFill>
                  <a:srgbClr val="0D2F66"/>
                </a:solidFill>
                <a:latin typeface="TT Fors Bold"/>
                <a:ea typeface="TT Fors Bold"/>
                <a:cs typeface="TT Fors Bold"/>
                <a:sym typeface="TT Fors Bold"/>
              </a:rPr>
              <a:t>Ramas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:</a:t>
            </a:r>
          </a:p>
          <a:p>
            <a:pPr marL="906780" lvl="2" indent="-302260" algn="l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Vista de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terreno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(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técnico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  <a:p>
            <a:pPr marL="906780" lvl="2" indent="-302260" algn="l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Dashboard (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administrador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y jefe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técnico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  <a:p>
            <a:pPr marL="906780" lvl="2" indent="-302260" algn="l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Gestión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de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usuarios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 (solo </a:t>
            </a:r>
            <a:r>
              <a:rPr lang="en-US" sz="2100" dirty="0" err="1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administrador</a:t>
            </a:r>
            <a:r>
              <a:rPr lang="en-US" sz="2100" dirty="0">
                <a:solidFill>
                  <a:srgbClr val="0D2F66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554157" y="413485"/>
            <a:ext cx="2190291" cy="809819"/>
            <a:chOff x="0" y="0"/>
            <a:chExt cx="2920388" cy="10797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46317" y="2252931"/>
            <a:ext cx="10708812" cy="417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0"/>
              </a:lnSpc>
              <a:spcBef>
                <a:spcPct val="0"/>
              </a:spcBef>
            </a:pPr>
            <a:r>
              <a:rPr lang="en-US" sz="27570" spc="-827">
                <a:solidFill>
                  <a:srgbClr val="0D2F6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57200" y="8018381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229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Open Sans</vt:lpstr>
      <vt:lpstr>Calibri</vt:lpstr>
      <vt:lpstr>TT Fors</vt:lpstr>
      <vt:lpstr>ITC Avant Garde Gothic</vt:lpstr>
      <vt:lpstr>TT Fors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Sistema FSM Incremento 2</dc:title>
  <dc:description>Presentación - Sistema FSM Incremento 2</dc:description>
  <cp:lastModifiedBy>eduardo zepeda</cp:lastModifiedBy>
  <cp:revision>5</cp:revision>
  <dcterms:created xsi:type="dcterms:W3CDTF">2006-08-16T00:00:00Z</dcterms:created>
  <dcterms:modified xsi:type="dcterms:W3CDTF">2026-09-13T20:18:52Z</dcterms:modified>
  <dc:identifier>DAHU2NjuL-E</dc:identifier>
</cp:coreProperties>
</file>