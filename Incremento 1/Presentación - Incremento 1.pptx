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ITC Avant Garde Gothic" charset="1" panose="020B0502020202020204"/>
      <p:regular r:id="rId22"/>
    </p:embeddedFont>
    <p:embeddedFont>
      <p:font typeface="TT Fors" charset="1" panose="020B0003030001020000"/>
      <p:regular r:id="rId23"/>
    </p:embeddedFont>
    <p:embeddedFont>
      <p:font typeface="TT Fors Bold" charset="1" panose="020B000303000102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29900" y="1663866"/>
            <a:ext cx="7036374" cy="5919350"/>
          </a:xfrm>
          <a:custGeom>
            <a:avLst/>
            <a:gdLst/>
            <a:ahLst/>
            <a:cxnLst/>
            <a:rect r="r" b="b" t="t" l="l"/>
            <a:pathLst>
              <a:path h="5919350" w="7036374">
                <a:moveTo>
                  <a:pt x="0" y="0"/>
                </a:moveTo>
                <a:lnTo>
                  <a:pt x="7036374" y="0"/>
                </a:lnTo>
                <a:lnTo>
                  <a:pt x="7036374" y="5919350"/>
                </a:lnTo>
                <a:lnTo>
                  <a:pt x="0" y="59193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81746" y="801712"/>
            <a:ext cx="9763125" cy="5137151"/>
            <a:chOff x="0" y="0"/>
            <a:chExt cx="13017500" cy="6849534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184275"/>
              <a:ext cx="13017500" cy="56652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</a:pPr>
              <a:r>
                <a:rPr lang="en-US" sz="8000" spc="-240">
                  <a:solidFill>
                    <a:srgbClr val="0A3D62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Sistema de Gestión de </a:t>
              </a:r>
              <a:r>
                <a:rPr lang="en-US" sz="8000" spc="-240">
                  <a:solidFill>
                    <a:srgbClr val="0A3D62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Instalaciones y Monitoreo Técnico para Finet Limitada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104775"/>
              <a:ext cx="130175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81746" y="5891237"/>
            <a:ext cx="7194651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</a:pPr>
            <a:r>
              <a:rPr lang="en-US" sz="2600">
                <a:solidFill>
                  <a:srgbClr val="0A3D62"/>
                </a:solidFill>
                <a:latin typeface="TT Fors"/>
                <a:ea typeface="TT Fors"/>
                <a:cs typeface="TT Fors"/>
                <a:sym typeface="TT Fors"/>
              </a:rPr>
              <a:t>Ingeniería de Software I - Primer Incremento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16318" y="8331200"/>
            <a:ext cx="7194651" cy="1122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0"/>
              </a:lnSpc>
            </a:pPr>
            <a:r>
              <a:rPr lang="en-US" sz="1900">
                <a:solidFill>
                  <a:srgbClr val="0A3D62"/>
                </a:solidFill>
                <a:latin typeface="TT Fors"/>
                <a:ea typeface="TT Fors"/>
                <a:cs typeface="TT Fors"/>
                <a:sym typeface="TT Fors"/>
              </a:rPr>
              <a:t>Integrantes: Fernando Chávez, Iosef Cornejo, Vicente Díaz, Matías Galvez, Fernando Rojas, Eduardo Zepeda</a:t>
            </a:r>
          </a:p>
          <a:p>
            <a:pPr algn="l" marL="0" indent="0" lvl="0">
              <a:lnSpc>
                <a:spcPts val="377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416318" y="9022398"/>
            <a:ext cx="7194651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0"/>
              </a:lnSpc>
            </a:pPr>
            <a:r>
              <a:rPr lang="en-US" sz="1900">
                <a:solidFill>
                  <a:srgbClr val="0A3D62"/>
                </a:solidFill>
                <a:latin typeface="TT Fors"/>
                <a:ea typeface="TT Fors"/>
                <a:cs typeface="TT Fors"/>
                <a:sym typeface="TT Fors"/>
              </a:rPr>
              <a:t>P</a:t>
            </a:r>
            <a:r>
              <a:rPr lang="en-US" sz="1900">
                <a:solidFill>
                  <a:srgbClr val="0A3D62"/>
                </a:solidFill>
                <a:latin typeface="TT Fors"/>
                <a:ea typeface="TT Fors"/>
                <a:cs typeface="TT Fors"/>
                <a:sym typeface="TT Fors"/>
              </a:rPr>
              <a:t>rofesor: Paulo Quinsacara Jofré</a:t>
            </a:r>
          </a:p>
          <a:p>
            <a:pPr algn="l" marL="0" indent="0" lvl="0">
              <a:lnSpc>
                <a:spcPts val="3779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11201400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 spc="-240">
                <a:solidFill>
                  <a:srgbClr val="0A3D62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Índice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286357" y="2302510"/>
            <a:ext cx="10653861" cy="528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9" indent="-345439" lvl="1">
              <a:lnSpc>
                <a:spcPts val="3199"/>
              </a:lnSpc>
              <a:buAutoNum type="arabicPeriod" startAt="1"/>
            </a:pPr>
            <a:r>
              <a:rPr lang="en-US" sz="3199" spc="-95">
                <a:solidFill>
                  <a:srgbClr val="0A3D62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Introducción e Incremento 1</a:t>
            </a:r>
          </a:p>
          <a:p>
            <a:pPr algn="l" marL="690879" indent="-345439" lvl="1">
              <a:lnSpc>
                <a:spcPts val="3199"/>
              </a:lnSpc>
              <a:buAutoNum type="arabicPeriod" startAt="1"/>
            </a:pPr>
            <a:r>
              <a:rPr lang="en-US" sz="3199" spc="-95">
                <a:solidFill>
                  <a:srgbClr val="0A3D62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CU-01: Creando Orden de Trabajo</a:t>
            </a:r>
          </a:p>
          <a:p>
            <a:pPr algn="l" marL="1381758" indent="-460586" lvl="2">
              <a:lnSpc>
                <a:spcPts val="3199"/>
              </a:lnSpc>
              <a:buAutoNum type="alphaLcPeriod" startAt="1"/>
            </a:pPr>
            <a:r>
              <a:rPr lang="en-US" sz="3199" spc="-95">
                <a:solidFill>
                  <a:srgbClr val="0A3D62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Diagrama de secuencia — Flujo normal</a:t>
            </a:r>
          </a:p>
          <a:p>
            <a:pPr algn="l" marL="1381758" indent="-460586" lvl="2">
              <a:lnSpc>
                <a:spcPts val="3199"/>
              </a:lnSpc>
              <a:buAutoNum type="alphaLcPeriod" startAt="1"/>
            </a:pPr>
            <a:r>
              <a:rPr lang="en-US" sz="3199" spc="-95">
                <a:solidFill>
                  <a:srgbClr val="0A3D62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Diagrama de secuencia — Excepción</a:t>
            </a:r>
          </a:p>
          <a:p>
            <a:pPr algn="l" marL="1381758" indent="-460586" lvl="2">
              <a:lnSpc>
                <a:spcPts val="3199"/>
              </a:lnSpc>
              <a:buAutoNum type="alphaLcPeriod" startAt="1"/>
            </a:pPr>
            <a:r>
              <a:rPr lang="en-US" sz="3199" spc="-95">
                <a:solidFill>
                  <a:srgbClr val="0A3D62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Caso de prueba con evidencia</a:t>
            </a:r>
          </a:p>
          <a:p>
            <a:pPr algn="l" marL="690879" indent="-345439" lvl="1">
              <a:lnSpc>
                <a:spcPts val="3199"/>
              </a:lnSpc>
              <a:buAutoNum type="arabicPeriod" startAt="1"/>
            </a:pPr>
            <a:r>
              <a:rPr lang="en-US" sz="3199" spc="-95">
                <a:solidFill>
                  <a:srgbClr val="0A3D62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CU-04: Cerrando OT en Terreno</a:t>
            </a:r>
          </a:p>
          <a:p>
            <a:pPr algn="l" marL="1381758" indent="-460586" lvl="2">
              <a:lnSpc>
                <a:spcPts val="3199"/>
              </a:lnSpc>
              <a:buAutoNum type="alphaLcPeriod" startAt="1"/>
            </a:pPr>
            <a:r>
              <a:rPr lang="en-US" sz="3199" spc="-95">
                <a:solidFill>
                  <a:srgbClr val="0A3D62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Diagrama de secuencia — Flujo normal</a:t>
            </a:r>
          </a:p>
          <a:p>
            <a:pPr algn="l" marL="1381758" indent="-460586" lvl="2">
              <a:lnSpc>
                <a:spcPts val="3199"/>
              </a:lnSpc>
              <a:buAutoNum type="alphaLcPeriod" startAt="1"/>
            </a:pPr>
            <a:r>
              <a:rPr lang="en-US" sz="3199" spc="-95">
                <a:solidFill>
                  <a:srgbClr val="0A3D62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Diagrama de secuencia — Excepción</a:t>
            </a:r>
          </a:p>
          <a:p>
            <a:pPr algn="l" marL="1381758" indent="-460586" lvl="2">
              <a:lnSpc>
                <a:spcPts val="3199"/>
              </a:lnSpc>
              <a:buAutoNum type="alphaLcPeriod" startAt="1"/>
            </a:pPr>
            <a:r>
              <a:rPr lang="en-US" sz="3199" spc="-95">
                <a:solidFill>
                  <a:srgbClr val="0A3D62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Caso de prueba con evidencia</a:t>
            </a:r>
          </a:p>
          <a:p>
            <a:pPr algn="l" marL="690879" indent="-345439" lvl="1">
              <a:lnSpc>
                <a:spcPts val="3199"/>
              </a:lnSpc>
              <a:buAutoNum type="arabicPeriod" startAt="1"/>
            </a:pPr>
            <a:r>
              <a:rPr lang="en-US" sz="3199" spc="-95">
                <a:solidFill>
                  <a:srgbClr val="0A3D62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Vistas 4+1</a:t>
            </a:r>
          </a:p>
          <a:p>
            <a:pPr algn="l" marL="1381758" indent="-460586" lvl="2">
              <a:lnSpc>
                <a:spcPts val="3199"/>
              </a:lnSpc>
              <a:buAutoNum type="alphaLcPeriod" startAt="1"/>
            </a:pPr>
            <a:r>
              <a:rPr lang="en-US" sz="3199" spc="-95">
                <a:solidFill>
                  <a:srgbClr val="0A3D62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Vista de Desarrollo — Diagrama de componentes</a:t>
            </a:r>
          </a:p>
          <a:p>
            <a:pPr algn="l" marL="1381758" indent="-460586" lvl="2">
              <a:lnSpc>
                <a:spcPts val="3199"/>
              </a:lnSpc>
              <a:buAutoNum type="alphaLcPeriod" startAt="1"/>
            </a:pPr>
            <a:r>
              <a:rPr lang="en-US" sz="3199" spc="-95">
                <a:solidFill>
                  <a:srgbClr val="0A3D62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Vista Física — Diagrama de despliegue</a:t>
            </a:r>
          </a:p>
          <a:p>
            <a:pPr algn="l" marL="690879" indent="-345439" lvl="1">
              <a:lnSpc>
                <a:spcPts val="3199"/>
              </a:lnSpc>
              <a:buAutoNum type="arabicPeriod" startAt="1"/>
            </a:pPr>
            <a:r>
              <a:rPr lang="en-US" sz="3199" spc="-95">
                <a:solidFill>
                  <a:srgbClr val="0A3D62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Demo del Sistema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2529910" y="4380711"/>
          <a:ext cx="6130537" cy="4329821"/>
        </p:xfrm>
        <a:graphic>
          <a:graphicData uri="http://schemas.openxmlformats.org/drawingml/2006/table">
            <a:tbl>
              <a:tblPr/>
              <a:tblGrid>
                <a:gridCol w="3065269"/>
                <a:gridCol w="3065269"/>
              </a:tblGrid>
              <a:tr h="11531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Requisitos funcionales totales del proyecto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56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894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Requisitos funcionales implementados en Incremento 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17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808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Porcentaje alcanzado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30,3%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91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CU trazados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CU-01 y CU-04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3" id="3"/>
          <p:cNvGrpSpPr/>
          <p:nvPr/>
        </p:nvGrpSpPr>
        <p:grpSpPr>
          <a:xfrm rot="0">
            <a:off x="471805" y="681746"/>
            <a:ext cx="14500461" cy="3004188"/>
            <a:chOff x="0" y="0"/>
            <a:chExt cx="19333949" cy="4005584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9525"/>
              <a:ext cx="19333949" cy="15047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400"/>
                </a:lnSpc>
                <a:spcBef>
                  <a:spcPct val="0"/>
                </a:spcBef>
              </a:pPr>
              <a:r>
                <a:rPr lang="en-US" sz="7400" spc="-222" strike="noStrike" u="none">
                  <a:solidFill>
                    <a:srgbClr val="0A3D62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Introducción y Incremento 1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559901"/>
              <a:ext cx="18157792" cy="11218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>
                  <a:solidFill>
                    <a:srgbClr val="0A3D62"/>
                  </a:solidFill>
                  <a:latin typeface="TT Fors"/>
                  <a:ea typeface="TT Fors"/>
                  <a:cs typeface="TT Fors"/>
                  <a:sym typeface="TT Fors"/>
                </a:rPr>
                <a:t>El sistema FSM es una plataforma web desarrollada para FiNet Limitada que permite gestionar órdenes de trabajo técnico, clientes y monitoreo de operaciones en terreno.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357884"/>
              <a:ext cx="130175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9627553" y="4380711"/>
          <a:ext cx="6130537" cy="4345818"/>
        </p:xfrm>
        <a:graphic>
          <a:graphicData uri="http://schemas.openxmlformats.org/drawingml/2006/table">
            <a:tbl>
              <a:tblPr/>
              <a:tblGrid>
                <a:gridCol w="3065269"/>
                <a:gridCol w="3065269"/>
              </a:tblGrid>
              <a:tr h="85522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TT Fors Bold"/>
                          <a:ea typeface="TT Fors Bold"/>
                          <a:cs typeface="TT Fors Bold"/>
                          <a:sym typeface="TT Fors Bold"/>
                        </a:rPr>
                        <a:t>Vistas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TT Fors Bold"/>
                          <a:ea typeface="TT Fors Bold"/>
                          <a:cs typeface="TT Fors Bold"/>
                          <a:sym typeface="TT Fors Bold"/>
                        </a:rPr>
                        <a:t>Controladores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9302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NestJS + TypeScript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SvelteKit + Tailwind CSS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448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Prisma ORM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Socket.io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308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PostgreSQL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Cloudinary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07433" y="1658923"/>
            <a:ext cx="7473133" cy="8240766"/>
          </a:xfrm>
          <a:custGeom>
            <a:avLst/>
            <a:gdLst/>
            <a:ahLst/>
            <a:cxnLst/>
            <a:rect r="r" b="b" t="t" l="l"/>
            <a:pathLst>
              <a:path h="8240766" w="7473133">
                <a:moveTo>
                  <a:pt x="0" y="0"/>
                </a:moveTo>
                <a:lnTo>
                  <a:pt x="7473134" y="0"/>
                </a:lnTo>
                <a:lnTo>
                  <a:pt x="7473134" y="8240766"/>
                </a:lnTo>
                <a:lnTo>
                  <a:pt x="0" y="82407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05093" y="393514"/>
            <a:ext cx="15477815" cy="3024947"/>
            <a:chOff x="0" y="0"/>
            <a:chExt cx="20637087" cy="4033262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9525"/>
              <a:ext cx="20637087" cy="15657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700"/>
                </a:lnSpc>
                <a:spcBef>
                  <a:spcPct val="0"/>
                </a:spcBef>
              </a:pPr>
              <a:r>
                <a:rPr lang="en-US" sz="7700" spc="-231">
                  <a:solidFill>
                    <a:srgbClr val="0A3D62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CU-01: Creando orden de Trabajo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802507"/>
              <a:ext cx="20637087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570982"/>
              <a:ext cx="1707164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00371" y="1410850"/>
            <a:ext cx="11687257" cy="8704410"/>
          </a:xfrm>
          <a:custGeom>
            <a:avLst/>
            <a:gdLst/>
            <a:ahLst/>
            <a:cxnLst/>
            <a:rect r="r" b="b" t="t" l="l"/>
            <a:pathLst>
              <a:path h="8704410" w="11687257">
                <a:moveTo>
                  <a:pt x="0" y="0"/>
                </a:moveTo>
                <a:lnTo>
                  <a:pt x="11687258" y="0"/>
                </a:lnTo>
                <a:lnTo>
                  <a:pt x="11687258" y="8704410"/>
                </a:lnTo>
                <a:lnTo>
                  <a:pt x="0" y="87044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6" r="0" b="-2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66750" y="261865"/>
            <a:ext cx="16075013" cy="3024868"/>
            <a:chOff x="0" y="0"/>
            <a:chExt cx="21433351" cy="403315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19966" y="-9525"/>
              <a:ext cx="21313385" cy="122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000"/>
                </a:lnSpc>
                <a:spcBef>
                  <a:spcPct val="0"/>
                </a:spcBef>
              </a:pPr>
              <a:r>
                <a:rPr lang="en-US" sz="6000" spc="-179">
                  <a:solidFill>
                    <a:srgbClr val="0A3D62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CU-01: Diagrama de secuencia flujo normal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570877"/>
              <a:ext cx="110998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34514" y="1500352"/>
            <a:ext cx="11995392" cy="8546716"/>
          </a:xfrm>
          <a:custGeom>
            <a:avLst/>
            <a:gdLst/>
            <a:ahLst/>
            <a:cxnLst/>
            <a:rect r="r" b="b" t="t" l="l"/>
            <a:pathLst>
              <a:path h="8546716" w="11995392">
                <a:moveTo>
                  <a:pt x="0" y="0"/>
                </a:moveTo>
                <a:lnTo>
                  <a:pt x="11995392" y="0"/>
                </a:lnTo>
                <a:lnTo>
                  <a:pt x="11995392" y="8546716"/>
                </a:lnTo>
                <a:lnTo>
                  <a:pt x="0" y="85467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6724" y="561780"/>
            <a:ext cx="15747738" cy="3534214"/>
            <a:chOff x="0" y="0"/>
            <a:chExt cx="20996984" cy="4712285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9525"/>
              <a:ext cx="20996984" cy="122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000"/>
                </a:lnSpc>
                <a:spcBef>
                  <a:spcPct val="0"/>
                </a:spcBef>
              </a:pPr>
              <a:r>
                <a:rPr lang="en-US" sz="6000" spc="-179">
                  <a:solidFill>
                    <a:srgbClr val="0A3D62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CU-01: </a:t>
              </a:r>
              <a:r>
                <a:rPr lang="en-US" sz="6000" spc="-179" strike="noStrike" u="none">
                  <a:solidFill>
                    <a:srgbClr val="0A3D62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Diagrama de </a:t>
              </a:r>
              <a:r>
                <a:rPr lang="en-US" sz="6000" spc="-179" strike="noStrike" u="none">
                  <a:solidFill>
                    <a:srgbClr val="0A3D62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</a:t>
              </a:r>
              <a:r>
                <a:rPr lang="en-US" sz="6000" spc="-179" strike="noStrike" u="none">
                  <a:solidFill>
                    <a:srgbClr val="0A3D62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ecuencia excepción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481530"/>
              <a:ext cx="110998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4250005"/>
              <a:ext cx="91821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411823"/>
            <a:ext cx="17922119" cy="4464489"/>
            <a:chOff x="0" y="0"/>
            <a:chExt cx="23896159" cy="5952652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23896159" cy="11228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500"/>
                </a:lnSpc>
                <a:spcBef>
                  <a:spcPct val="0"/>
                </a:spcBef>
              </a:pPr>
              <a:r>
                <a:rPr lang="en-US" sz="5500" spc="-165">
                  <a:solidFill>
                    <a:srgbClr val="0A3D62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Caso de prueba CU-01: Creando orden de trabajo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490372"/>
              <a:ext cx="91821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4984043" y="1328469"/>
          <a:ext cx="8319914" cy="8639175"/>
        </p:xfrm>
        <a:graphic>
          <a:graphicData uri="http://schemas.openxmlformats.org/drawingml/2006/table">
            <a:tbl>
              <a:tblPr/>
              <a:tblGrid>
                <a:gridCol w="2839176"/>
                <a:gridCol w="5480738"/>
              </a:tblGrid>
              <a:tr h="122460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Caso de prueba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Crear OT para cliente existente con técnico asignado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8291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Precondición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Cliente registrado en BD · Técnico activo disponible · Usuario autenticado como </a:t>
                      </a:r>
                      <a:endParaRPr lang="en-US" sz="1100"/>
                    </a:p>
                    <a:p>
                      <a:pPr algn="ctr">
                        <a:lnSpc>
                          <a:spcPts val="2660"/>
                        </a:lnSpc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JEFE TECNICO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74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Pasos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1. Ir a Órdenes de Trabajo → Nueva OT. </a:t>
                      </a:r>
                      <a:endParaRPr lang="en-US" sz="1100"/>
                    </a:p>
                    <a:p>
                      <a:pPr algn="ctr">
                        <a:lnSpc>
                          <a:spcPts val="2660"/>
                        </a:lnSpc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2. Ingresar RUT del cliente válido. </a:t>
                      </a:r>
                    </a:p>
                    <a:p>
                      <a:pPr algn="ctr">
                        <a:lnSpc>
                          <a:spcPts val="2660"/>
                        </a:lnSpc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3. Seleccionar tipo REPARACION y prioridad ALTA. </a:t>
                      </a:r>
                    </a:p>
                    <a:p>
                      <a:pPr algn="ctr">
                        <a:lnSpc>
                          <a:spcPts val="2660"/>
                        </a:lnSpc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4. Asignar técnico disponible. </a:t>
                      </a:r>
                    </a:p>
                    <a:p>
                      <a:pPr algn="ctr">
                        <a:lnSpc>
                          <a:spcPts val="2660"/>
                        </a:lnSpc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5. Presionar Crear OT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8291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Resultado esperado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OT creada en estado ASIGNADA · Visible en panel del técnico · Registrada en historial y log de auditoría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80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Resultado obtenido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El sistema creó la OT correctamente en estado ASIGNADA con el técnico asignado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321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Estado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Pasado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1358" y="2329845"/>
            <a:ext cx="8682642" cy="6467071"/>
          </a:xfrm>
          <a:custGeom>
            <a:avLst/>
            <a:gdLst/>
            <a:ahLst/>
            <a:cxnLst/>
            <a:rect r="r" b="b" t="t" l="l"/>
            <a:pathLst>
              <a:path h="6467071" w="8682642">
                <a:moveTo>
                  <a:pt x="0" y="0"/>
                </a:moveTo>
                <a:lnTo>
                  <a:pt x="8682642" y="0"/>
                </a:lnTo>
                <a:lnTo>
                  <a:pt x="8682642" y="6467071"/>
                </a:lnTo>
                <a:lnTo>
                  <a:pt x="0" y="64670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291461" y="2329845"/>
            <a:ext cx="9663871" cy="5076773"/>
          </a:xfrm>
          <a:custGeom>
            <a:avLst/>
            <a:gdLst/>
            <a:ahLst/>
            <a:cxnLst/>
            <a:rect r="r" b="b" t="t" l="l"/>
            <a:pathLst>
              <a:path h="5076773" w="9663871">
                <a:moveTo>
                  <a:pt x="0" y="0"/>
                </a:moveTo>
                <a:lnTo>
                  <a:pt x="9663872" y="0"/>
                </a:lnTo>
                <a:lnTo>
                  <a:pt x="9663872" y="5076773"/>
                </a:lnTo>
                <a:lnTo>
                  <a:pt x="0" y="50767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97" t="0" r="-297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66750" y="411823"/>
            <a:ext cx="17922119" cy="4464489"/>
            <a:chOff x="0" y="0"/>
            <a:chExt cx="23896159" cy="5952652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9525"/>
              <a:ext cx="23896159" cy="11228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500"/>
                </a:lnSpc>
                <a:spcBef>
                  <a:spcPct val="0"/>
                </a:spcBef>
              </a:pPr>
              <a:r>
                <a:rPr lang="en-US" sz="5500" spc="-165">
                  <a:solidFill>
                    <a:srgbClr val="0A3D62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Caso de prueba CU-01: Creando orden de trabajo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5490372"/>
              <a:ext cx="91821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21433" y="1357076"/>
            <a:ext cx="7445135" cy="6703095"/>
          </a:xfrm>
          <a:custGeom>
            <a:avLst/>
            <a:gdLst/>
            <a:ahLst/>
            <a:cxnLst/>
            <a:rect r="r" b="b" t="t" l="l"/>
            <a:pathLst>
              <a:path h="6703095" w="7445135">
                <a:moveTo>
                  <a:pt x="0" y="0"/>
                </a:moveTo>
                <a:lnTo>
                  <a:pt x="7445134" y="0"/>
                </a:lnTo>
                <a:lnTo>
                  <a:pt x="7445134" y="6703095"/>
                </a:lnTo>
                <a:lnTo>
                  <a:pt x="0" y="67030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21433" y="8055877"/>
            <a:ext cx="7445135" cy="1796247"/>
          </a:xfrm>
          <a:custGeom>
            <a:avLst/>
            <a:gdLst/>
            <a:ahLst/>
            <a:cxnLst/>
            <a:rect r="r" b="b" t="t" l="l"/>
            <a:pathLst>
              <a:path h="1796247" w="7445135">
                <a:moveTo>
                  <a:pt x="0" y="0"/>
                </a:moveTo>
                <a:lnTo>
                  <a:pt x="7445134" y="0"/>
                </a:lnTo>
                <a:lnTo>
                  <a:pt x="7445134" y="1796247"/>
                </a:lnTo>
                <a:lnTo>
                  <a:pt x="0" y="17962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405093" y="288544"/>
            <a:ext cx="15477815" cy="2921439"/>
            <a:chOff x="0" y="0"/>
            <a:chExt cx="20637087" cy="3895252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0"/>
              <a:ext cx="20637087" cy="1418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999"/>
                </a:lnSpc>
                <a:spcBef>
                  <a:spcPct val="0"/>
                </a:spcBef>
              </a:pPr>
              <a:r>
                <a:rPr lang="en-US" sz="6999" spc="-209">
                  <a:solidFill>
                    <a:srgbClr val="0A3D62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CU-04: Cerrando OT en terreno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664497"/>
              <a:ext cx="20637087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432972"/>
              <a:ext cx="1707164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12027" y="1425581"/>
            <a:ext cx="12863945" cy="8166163"/>
          </a:xfrm>
          <a:custGeom>
            <a:avLst/>
            <a:gdLst/>
            <a:ahLst/>
            <a:cxnLst/>
            <a:rect r="r" b="b" t="t" l="l"/>
            <a:pathLst>
              <a:path h="8166163" w="12863945">
                <a:moveTo>
                  <a:pt x="0" y="0"/>
                </a:moveTo>
                <a:lnTo>
                  <a:pt x="12863946" y="0"/>
                </a:lnTo>
                <a:lnTo>
                  <a:pt x="12863946" y="8166163"/>
                </a:lnTo>
                <a:lnTo>
                  <a:pt x="0" y="81661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66750" y="261865"/>
            <a:ext cx="16075013" cy="3024868"/>
            <a:chOff x="0" y="0"/>
            <a:chExt cx="21433351" cy="403315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19966" y="-9525"/>
              <a:ext cx="21313385" cy="122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000"/>
                </a:lnSpc>
                <a:spcBef>
                  <a:spcPct val="0"/>
                </a:spcBef>
              </a:pPr>
              <a:r>
                <a:rPr lang="en-US" sz="6000" spc="-179">
                  <a:solidFill>
                    <a:srgbClr val="0A3D62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CU-04: Diagrama de secuencia flujo normal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570877"/>
              <a:ext cx="110998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00571" y="1763943"/>
            <a:ext cx="11661360" cy="7897047"/>
          </a:xfrm>
          <a:custGeom>
            <a:avLst/>
            <a:gdLst/>
            <a:ahLst/>
            <a:cxnLst/>
            <a:rect r="r" b="b" t="t" l="l"/>
            <a:pathLst>
              <a:path h="7897047" w="11661360">
                <a:moveTo>
                  <a:pt x="0" y="0"/>
                </a:moveTo>
                <a:lnTo>
                  <a:pt x="11661360" y="0"/>
                </a:lnTo>
                <a:lnTo>
                  <a:pt x="11661360" y="7897048"/>
                </a:lnTo>
                <a:lnTo>
                  <a:pt x="0" y="78970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6724" y="561780"/>
            <a:ext cx="15747738" cy="3534214"/>
            <a:chOff x="0" y="0"/>
            <a:chExt cx="20996984" cy="4712285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9525"/>
              <a:ext cx="20996984" cy="122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000"/>
                </a:lnSpc>
                <a:spcBef>
                  <a:spcPct val="0"/>
                </a:spcBef>
              </a:pPr>
              <a:r>
                <a:rPr lang="en-US" sz="6000" spc="-179">
                  <a:solidFill>
                    <a:srgbClr val="0A3D62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CU-04: </a:t>
              </a:r>
              <a:r>
                <a:rPr lang="en-US" sz="6000" spc="-179" strike="noStrike" u="none">
                  <a:solidFill>
                    <a:srgbClr val="0A3D62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Diagrama de </a:t>
              </a:r>
              <a:r>
                <a:rPr lang="en-US" sz="6000" spc="-179" strike="noStrike" u="none">
                  <a:solidFill>
                    <a:srgbClr val="0A3D62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</a:t>
              </a:r>
              <a:r>
                <a:rPr lang="en-US" sz="6000" spc="-179" strike="noStrike" u="none">
                  <a:solidFill>
                    <a:srgbClr val="0A3D62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ecuencia excepción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481530"/>
              <a:ext cx="110998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4250005"/>
              <a:ext cx="91821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6724" y="306852"/>
            <a:ext cx="17922119" cy="4385115"/>
            <a:chOff x="0" y="0"/>
            <a:chExt cx="23896159" cy="584682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19050"/>
              <a:ext cx="23896159" cy="10265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000"/>
                </a:lnSpc>
                <a:spcBef>
                  <a:spcPct val="0"/>
                </a:spcBef>
              </a:pPr>
              <a:r>
                <a:rPr lang="en-US" sz="5000" spc="-150">
                  <a:solidFill>
                    <a:srgbClr val="0A3D62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Caso de prueba CU-04: Cerrando OT en terreno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384540"/>
              <a:ext cx="91821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3514461" y="1146613"/>
          <a:ext cx="11259078" cy="8601075"/>
        </p:xfrm>
        <a:graphic>
          <a:graphicData uri="http://schemas.openxmlformats.org/drawingml/2006/table">
            <a:tbl>
              <a:tblPr/>
              <a:tblGrid>
                <a:gridCol w="3842168"/>
                <a:gridCol w="7416910"/>
              </a:tblGrid>
              <a:tr h="85149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Caso de prueba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Cierre exitoso de OT con fotografias y materiales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808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Precondición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OT en estado EN CURSO · Técnico autenticado es el asignado a la OT · Materiales disponibles en stock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237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Pasos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1. Ir a /terreno → seleccionar OT en EN CURSO → presionar "Cerrar OT". </a:t>
                      </a:r>
                      <a:endParaRPr lang="en-US" sz="1100"/>
                    </a:p>
                    <a:p>
                      <a:pPr algn="ctr">
                        <a:lnSpc>
                          <a:spcPts val="2660"/>
                        </a:lnSpc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2. Paso 1: adjuntar mínimo 1 fotografía. </a:t>
                      </a:r>
                    </a:p>
                    <a:p>
                      <a:pPr algn="ctr">
                        <a:lnSpc>
                          <a:spcPts val="2660"/>
                        </a:lnSpc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3. Paso 2: registrar materiales utilizados con cantidades. </a:t>
                      </a:r>
                    </a:p>
                    <a:p>
                      <a:pPr algn="ctr">
                        <a:lnSpc>
                          <a:spcPts val="2660"/>
                        </a:lnSpc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4. Paso 3: ingresar potencia óptica y resultado de llamada de cortesía. </a:t>
                      </a:r>
                    </a:p>
                    <a:p>
                      <a:pPr algn="ctr">
                        <a:lnSpc>
                          <a:spcPts val="2660"/>
                        </a:lnSpc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5. Presionar "Cerrar OT"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8294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Resultado esperado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OT en estado COMPLETADA · Fotos almacenadas en Cloudinary · Materiales descontados del stock · Llamada de cortesía registrada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8294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Resultado obtenido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El sistema procesó el cierre correctamente en transacción atómica. OT quedó en estado COMPLETADA con todas las evidencias registradas en BD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322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Estado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Pasado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56512" y="2032658"/>
            <a:ext cx="5296949" cy="6629804"/>
          </a:xfrm>
          <a:custGeom>
            <a:avLst/>
            <a:gdLst/>
            <a:ahLst/>
            <a:cxnLst/>
            <a:rect r="r" b="b" t="t" l="l"/>
            <a:pathLst>
              <a:path h="6629804" w="5296949">
                <a:moveTo>
                  <a:pt x="0" y="0"/>
                </a:moveTo>
                <a:lnTo>
                  <a:pt x="5296949" y="0"/>
                </a:lnTo>
                <a:lnTo>
                  <a:pt x="5296949" y="6629804"/>
                </a:lnTo>
                <a:lnTo>
                  <a:pt x="0" y="66298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012098" y="2052768"/>
            <a:ext cx="4491454" cy="6609694"/>
          </a:xfrm>
          <a:custGeom>
            <a:avLst/>
            <a:gdLst/>
            <a:ahLst/>
            <a:cxnLst/>
            <a:rect r="r" b="b" t="t" l="l"/>
            <a:pathLst>
              <a:path h="6609694" w="4491454">
                <a:moveTo>
                  <a:pt x="0" y="0"/>
                </a:moveTo>
                <a:lnTo>
                  <a:pt x="4491454" y="0"/>
                </a:lnTo>
                <a:lnTo>
                  <a:pt x="4491454" y="6609694"/>
                </a:lnTo>
                <a:lnTo>
                  <a:pt x="0" y="66096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914653" y="2052768"/>
            <a:ext cx="4916836" cy="6609694"/>
          </a:xfrm>
          <a:custGeom>
            <a:avLst/>
            <a:gdLst/>
            <a:ahLst/>
            <a:cxnLst/>
            <a:rect r="r" b="b" t="t" l="l"/>
            <a:pathLst>
              <a:path h="6609694" w="4916836">
                <a:moveTo>
                  <a:pt x="0" y="0"/>
                </a:moveTo>
                <a:lnTo>
                  <a:pt x="4916835" y="0"/>
                </a:lnTo>
                <a:lnTo>
                  <a:pt x="4916835" y="6609694"/>
                </a:lnTo>
                <a:lnTo>
                  <a:pt x="0" y="66096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56724" y="306852"/>
            <a:ext cx="17922119" cy="4385115"/>
            <a:chOff x="0" y="0"/>
            <a:chExt cx="23896159" cy="584682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19050"/>
              <a:ext cx="23896159" cy="10265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000"/>
                </a:lnSpc>
                <a:spcBef>
                  <a:spcPct val="0"/>
                </a:spcBef>
              </a:pPr>
              <a:r>
                <a:rPr lang="en-US" sz="5000" spc="-150">
                  <a:solidFill>
                    <a:srgbClr val="0A3D62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Caso de prueba CU-04: Cerrando OT en terreno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5384540"/>
              <a:ext cx="91821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7684" y="1457171"/>
            <a:ext cx="14355979" cy="8057293"/>
          </a:xfrm>
          <a:custGeom>
            <a:avLst/>
            <a:gdLst/>
            <a:ahLst/>
            <a:cxnLst/>
            <a:rect r="r" b="b" t="t" l="l"/>
            <a:pathLst>
              <a:path h="8057293" w="14355979">
                <a:moveTo>
                  <a:pt x="0" y="0"/>
                </a:moveTo>
                <a:lnTo>
                  <a:pt x="14355980" y="0"/>
                </a:lnTo>
                <a:lnTo>
                  <a:pt x="14355980" y="8057293"/>
                </a:lnTo>
                <a:lnTo>
                  <a:pt x="0" y="80572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6724" y="306852"/>
            <a:ext cx="17922119" cy="4385115"/>
            <a:chOff x="0" y="0"/>
            <a:chExt cx="23896159" cy="584682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19050"/>
              <a:ext cx="23896159" cy="10265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000"/>
                </a:lnSpc>
                <a:spcBef>
                  <a:spcPct val="0"/>
                </a:spcBef>
              </a:pPr>
              <a:r>
                <a:rPr lang="en-US" sz="5000" spc="-150">
                  <a:solidFill>
                    <a:srgbClr val="0A3D62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Vista de desarrollo - Diagrama de componentes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5384540"/>
              <a:ext cx="91821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49192" y="1316293"/>
            <a:ext cx="12789617" cy="8792861"/>
          </a:xfrm>
          <a:custGeom>
            <a:avLst/>
            <a:gdLst/>
            <a:ahLst/>
            <a:cxnLst/>
            <a:rect r="r" b="b" t="t" l="l"/>
            <a:pathLst>
              <a:path h="8792861" w="12789617">
                <a:moveTo>
                  <a:pt x="0" y="0"/>
                </a:moveTo>
                <a:lnTo>
                  <a:pt x="12789616" y="0"/>
                </a:lnTo>
                <a:lnTo>
                  <a:pt x="12789616" y="8792861"/>
                </a:lnTo>
                <a:lnTo>
                  <a:pt x="0" y="87928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6629" y="278068"/>
            <a:ext cx="1593693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49"/>
              </a:lnSpc>
              <a:spcBef>
                <a:spcPct val="0"/>
              </a:spcBef>
            </a:pPr>
            <a:r>
              <a:rPr lang="en-US" sz="6749" spc="-202">
                <a:solidFill>
                  <a:srgbClr val="0A3D62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Vista Física - Diagrama de despliegue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22191" y="2771245"/>
            <a:ext cx="8354733" cy="333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813"/>
              </a:lnSpc>
              <a:spcBef>
                <a:spcPct val="0"/>
              </a:spcBef>
            </a:pPr>
            <a:r>
              <a:rPr lang="en-US" sz="21813" spc="-654">
                <a:solidFill>
                  <a:srgbClr val="0A3D62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Presentación - Instalaciones y Monitoreo Técnico</dc:description>
  <dc:identifier>DAHMHdrsQSg</dc:identifier>
  <dcterms:modified xsi:type="dcterms:W3CDTF">2011-08-01T06:04:30Z</dcterms:modified>
  <cp:revision>1</cp:revision>
  <dc:title>Presentación - Instalaciones y Monitoreo Técnico</dc:title>
</cp:coreProperties>
</file>